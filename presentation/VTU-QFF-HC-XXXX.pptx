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2E1B5B"/>
                </a:solidFill>
                <a:latin typeface="Calibri"/>
              </a:rPr>
              <a:t>Average wait per vehicle (s) · 2×2 grid · 3 seeds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Fixed-time</c:v>
                </c:pt>
              </c:strCache>
            </c:strRef>
          </c:tx>
          <c:spPr>
            <a:solidFill>
              <a:srgbClr val="B9B3E6"/>
            </a:solidFill>
          </c:spPr>
          <c:cat>
            <c:strRef>
              <c:f>Sheet1!$A$2:$A$5</c:f>
              <c:strCache>
                <c:ptCount val="4"/>
                <c:pt idx="0">
                  <c:v>Off-peak</c:v>
                </c:pt>
                <c:pt idx="1">
                  <c:v>Rush hour</c:v>
                </c:pt>
                <c:pt idx="2">
                  <c:v>Event surge</c:v>
                </c:pt>
                <c:pt idx="3">
                  <c:v>Random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21.3</c:v>
                </c:pt>
                <c:pt idx="1">
                  <c:v>83.5</c:v>
                </c:pt>
                <c:pt idx="2">
                  <c:v>86.2</c:v>
                </c:pt>
                <c:pt idx="3">
                  <c:v>24.4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Actuated</c:v>
                </c:pt>
              </c:strCache>
            </c:strRef>
          </c:tx>
          <c:spPr>
            <a:solidFill>
              <a:srgbClr val="F5C33B"/>
            </a:solidFill>
          </c:spPr>
          <c:cat>
            <c:strRef>
              <c:f>Sheet1!$A$2:$A$5</c:f>
              <c:strCache>
                <c:ptCount val="4"/>
                <c:pt idx="0">
                  <c:v>Off-peak</c:v>
                </c:pt>
                <c:pt idx="1">
                  <c:v>Rush hour</c:v>
                </c:pt>
                <c:pt idx="2">
                  <c:v>Event surge</c:v>
                </c:pt>
                <c:pt idx="3">
                  <c:v>Random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28.6</c:v>
                </c:pt>
                <c:pt idx="1">
                  <c:v>34.5</c:v>
                </c:pt>
                <c:pt idx="2">
                  <c:v>31.8</c:v>
                </c:pt>
                <c:pt idx="3">
                  <c:v>32.0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QAOA (ours)</c:v>
                </c:pt>
              </c:strCache>
            </c:strRef>
          </c:tx>
          <c:spPr>
            <a:solidFill>
              <a:srgbClr val="E0558F"/>
            </a:solidFill>
          </c:spPr>
          <c:cat>
            <c:strRef>
              <c:f>Sheet1!$A$2:$A$5</c:f>
              <c:strCache>
                <c:ptCount val="4"/>
                <c:pt idx="0">
                  <c:v>Off-peak</c:v>
                </c:pt>
                <c:pt idx="1">
                  <c:v>Rush hour</c:v>
                </c:pt>
                <c:pt idx="2">
                  <c:v>Event surge</c:v>
                </c:pt>
                <c:pt idx="3">
                  <c:v>Random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21.9</c:v>
                </c:pt>
                <c:pt idx="1">
                  <c:v>30.2</c:v>
                </c:pt>
                <c:pt idx="2">
                  <c:v>27.6</c:v>
                </c:pt>
                <c:pt idx="3">
                  <c:v>23.4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6F7399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2FC"/>
            </a:solidFill>
          </a:ln>
        </c:spPr>
        <c:txPr>
          <a:bodyPr/>
          <a:lstStyle/>
          <a:p>
            <a:pPr>
              <a:defRPr sz="1000">
                <a:solidFill>
                  <a:srgbClr val="6F7399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E6E8F7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F7399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6F7399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A1F8C-B10B-C84D-94FC-B3DA01C1C208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02761-92A6-8544-9B98-D45CEE3CC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3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DDE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3054096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54096" y="658368"/>
            <a:ext cx="3054096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9048" y="658368"/>
            <a:ext cx="3054096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pic>
        <p:nvPicPr>
          <p:cNvPr id="6" name="Image 0" descr="vtu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91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ವಿಶ್ವೇಶ್ವರಯ್ಯ ತಾಂತ್ರಿಕ ವಿಶ್ವವಿದ್ಯಾಲಯ, ಬೆಳಗಾವಿ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32688" y="3383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50" dirty="0"/>
          </a:p>
        </p:txBody>
      </p:sp>
      <p:pic>
        <p:nvPicPr>
          <p:cNvPr id="9" name="Image 1" descr="quc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1440"/>
            <a:ext cx="61264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0972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2E1B5B"/>
                </a:solidFill>
              </a:rPr>
              <a:t>QISKIT FALL FEST 2026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36576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00" dirty="0">
                <a:solidFill>
                  <a:srgbClr val="5B3BA8"/>
                </a:solidFill>
              </a:rPr>
              <a:t>IBM Quantum</a:t>
            </a:r>
            <a:endParaRPr lang="en-US" sz="950" dirty="0"/>
          </a:p>
        </p:txBody>
      </p:sp>
      <p:pic>
        <p:nvPicPr>
          <p:cNvPr id="12" name="Image 2" descr="badge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91440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CBD1F5"/>
          </a:solidFill>
          <a:ln w="12700">
            <a:solidFill>
              <a:srgbClr val="CBD1F5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4828032"/>
            <a:ext cx="3054096" cy="36576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054096" y="4828032"/>
            <a:ext cx="3054096" cy="36576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4828032"/>
            <a:ext cx="3054096" cy="36576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E1B5B"/>
                </a:solidFill>
              </a:rPr>
              <a:t>QISKIT FALL FEST 2026  ·  HOSTED BY VTU, BELAGAVI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5943600" y="4864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200" dirty="0">
                <a:solidFill>
                  <a:srgbClr val="5B3BA8"/>
                </a:solidFill>
              </a:rPr>
              <a:t>27 – 31 OCT 2026</a:t>
            </a:r>
            <a:endParaRPr lang="en-US" sz="850" dirty="0"/>
          </a:p>
        </p:txBody>
      </p:sp>
      <p:pic>
        <p:nvPicPr>
          <p:cNvPr id="19" name="Image 3" descr="sphe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822960"/>
            <a:ext cx="777240" cy="777240"/>
          </a:xfrm>
          <a:prstGeom prst="rect">
            <a:avLst/>
          </a:prstGeom>
        </p:spPr>
      </p:pic>
      <p:pic>
        <p:nvPicPr>
          <p:cNvPr id="20" name="Image 4" descr="bird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868680"/>
            <a:ext cx="548640" cy="329184"/>
          </a:xfrm>
          <a:prstGeom prst="rect">
            <a:avLst/>
          </a:prstGeom>
        </p:spPr>
      </p:pic>
      <p:pic>
        <p:nvPicPr>
          <p:cNvPr id="21" name="Image 5" descr="bird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1261872"/>
            <a:ext cx="384048" cy="228600"/>
          </a:xfrm>
          <a:prstGeom prst="rect">
            <a:avLst/>
          </a:prstGeom>
        </p:spPr>
      </p:pic>
      <p:sp>
        <p:nvSpPr>
          <p:cNvPr id="2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qtraffic.harshithk.tech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hyperlink" Target="https://github.com/Harshithk00/Vhack" TargetMode="External"/><Relationship Id="rId8" Type="http://schemas.openxmlformats.org/officeDocument/2006/relationships/hyperlink" Target="https://vhack.harshithk.tech" TargetMode="External"/><Relationship Id="rId9" Type="http://schemas.openxmlformats.org/officeDocument/2006/relationships/hyperlink" Target="https://qtraffic.harshithk.tec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PRESENTATION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Qiskit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 Fest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· Team Details</a:t>
            </a:r>
            <a:endParaRPr lang="en-US" sz="1300" dirty="0"/>
          </a:p>
        </p:txBody>
      </p:sp>
      <p:pic>
        <p:nvPicPr>
          <p:cNvPr id="5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91840"/>
            <a:ext cx="1371600" cy="1371600"/>
          </a:xfrm>
          <a:prstGeom prst="rect">
            <a:avLst/>
          </a:prstGeom>
        </p:spPr>
      </p:pic>
      <p:pic>
        <p:nvPicPr>
          <p:cNvPr id="6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3429000"/>
            <a:ext cx="731520" cy="438912"/>
          </a:xfrm>
          <a:prstGeom prst="rect">
            <a:avLst/>
          </a:prstGeom>
        </p:spPr>
      </p:pic>
      <p:pic>
        <p:nvPicPr>
          <p:cNvPr id="7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3977640"/>
            <a:ext cx="502920" cy="301752"/>
          </a:xfrm>
          <a:prstGeom prst="rect">
            <a:avLst/>
          </a:prstGeom>
        </p:spPr>
      </p:pic>
      <p:pic>
        <p:nvPicPr>
          <p:cNvPr id="8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4297680"/>
            <a:ext cx="384048" cy="2286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023360" y="8412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Participant Details</a:t>
            </a:r>
            <a:endParaRPr lang="en-US" sz="1600" dirty="0"/>
          </a:p>
        </p:txBody>
      </p:sp>
      <p:sp>
        <p:nvSpPr>
          <p:cNvPr id="10" name="Field: PROJECT TITLE"/>
          <p:cNvSpPr/>
          <p:nvPr/>
        </p:nvSpPr>
        <p:spPr>
          <a:xfrm>
            <a:off x="4023360" y="1261872"/>
            <a:ext cx="466344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 b="1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Quantum-Assisted Traffic Signal Optimization Using QAOA</a:t>
            </a:r>
            <a:endParaRPr lang="en-US" sz="900" dirty="0"/>
          </a:p>
        </p:txBody>
      </p:sp>
      <p:sp>
        <p:nvSpPr>
          <p:cNvPr id="11" name="Field: TRACK"/>
          <p:cNvSpPr/>
          <p:nvPr/>
        </p:nvSpPr>
        <p:spPr>
          <a:xfrm>
            <a:off x="402336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 b="1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</a:t>
            </a:r>
            <a:endParaRPr lang="en-US" sz="900" dirty="0"/>
          </a:p>
        </p:txBody>
      </p:sp>
      <p:sp>
        <p:nvSpPr>
          <p:cNvPr id="12" name="Field: TEAM NAME"/>
          <p:cNvSpPr/>
          <p:nvPr/>
        </p:nvSpPr>
        <p:spPr>
          <a:xfrm>
            <a:off x="6400800" y="18653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 b="1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POINTER</a:t>
            </a:r>
            <a:endParaRPr lang="en-US" sz="900" dirty="0"/>
          </a:p>
        </p:txBody>
      </p:sp>
      <p:sp>
        <p:nvSpPr>
          <p:cNvPr id="13" name="Field: TEAM LEADER"/>
          <p:cNvSpPr/>
          <p:nvPr/>
        </p:nvSpPr>
        <p:spPr>
          <a:xfrm>
            <a:off x="402336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 b="1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Kumar</a:t>
            </a:r>
            <a:endParaRPr lang="en-US" sz="900" dirty="0"/>
          </a:p>
        </p:txBody>
      </p:sp>
      <p:sp>
        <p:nvSpPr>
          <p:cNvPr id="14" name="Field: EMAIL / CONTACT"/>
          <p:cNvSpPr/>
          <p:nvPr/>
        </p:nvSpPr>
        <p:spPr>
          <a:xfrm>
            <a:off x="6400800" y="246888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CONTACT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 b="1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harshitkumar3005@gmail.com</a:t>
            </a:r>
            <a:endParaRPr lang="en-US" sz="900" dirty="0"/>
          </a:p>
        </p:txBody>
      </p:sp>
      <p:sp>
        <p:nvSpPr>
          <p:cNvPr id="15" name="Field: TEAM MEMBERS"/>
          <p:cNvSpPr/>
          <p:nvPr/>
        </p:nvSpPr>
        <p:spPr>
          <a:xfrm>
            <a:off x="4023360" y="3072384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 b="1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Kumar (Team Lead)  ·  Himansu Rauniyar  ·  Aditya Pattar</a:t>
            </a:r>
            <a:endParaRPr lang="en-US" sz="900" dirty="0"/>
          </a:p>
        </p:txBody>
      </p:sp>
      <p:sp>
        <p:nvSpPr>
          <p:cNvPr id="16" name="Field: INSTITUTION / ORGANISATION"/>
          <p:cNvSpPr/>
          <p:nvPr/>
        </p:nvSpPr>
        <p:spPr>
          <a:xfrm>
            <a:off x="402336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/ ORGANISATION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 b="1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Tumkur · Dept. of CSE</a:t>
            </a:r>
            <a:endParaRPr lang="en-US" sz="900" dirty="0"/>
          </a:p>
        </p:txBody>
      </p:sp>
      <p:sp>
        <p:nvSpPr>
          <p:cNvPr id="17" name="Field: COUNTRY"/>
          <p:cNvSpPr/>
          <p:nvPr/>
        </p:nvSpPr>
        <p:spPr>
          <a:xfrm>
            <a:off x="6400800" y="3922776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 b="1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p/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31520" y="190195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5B3BA8"/>
                </a:solidFill>
                <a:latin typeface="Georgia"/>
              </a:rPr>
              <a:t>Fixed timers waste everyone's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2286000"/>
            <a:ext cx="484632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 b="0" i="0">
                <a:solidFill>
                  <a:srgbClr val="2E1B5B"/>
                </a:solidFill>
                <a:latin typeface="Calibri"/>
              </a:rPr>
              <a:t>•  Most city signals still run fixed timers, blind to the queues in front of them.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2E1B5B"/>
                </a:solidFill>
                <a:latin typeface="Calibri"/>
              </a:rPr>
              <a:t>•  At rush hour, green time goes to empty roads while the busy road backs up.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2E1B5B"/>
                </a:solidFill>
                <a:latin typeface="Calibri"/>
              </a:rPr>
              <a:t>•  Timing N signals over T slots is combinatorial: 2</a:t>
            </a:r>
            <a:r>
              <a:rPr sz="1250" b="0" i="0" baseline="30000">
                <a:solidFill>
                  <a:srgbClr val="2E1B5B"/>
                </a:solidFill>
                <a:latin typeface="Calibri"/>
              </a:rPr>
              <a:t>N·T</a:t>
            </a:r>
            <a:r>
              <a:rPr sz="1250" b="0" i="0">
                <a:solidFill>
                  <a:srgbClr val="2E1B5B"/>
                </a:solidFill>
                <a:latin typeface="Calibri"/>
              </a:rPr>
              <a:t> possible plans, re-decided every 30 s.</a:t>
            </a:r>
          </a:p>
        </p:txBody>
      </p:sp>
      <p:sp>
        <p:nvSpPr>
          <p:cNvPr id="28" name="Problem question"/>
          <p:cNvSpPr/>
          <p:nvPr/>
        </p:nvSpPr>
        <p:spPr>
          <a:xfrm>
            <a:off x="731520" y="3703320"/>
            <a:ext cx="4846320" cy="713232"/>
          </a:xfrm>
          <a:prstGeom prst="roundRect">
            <a:avLst>
              <a:gd name="adj" fmla="val 8000"/>
            </a:avLst>
          </a:prstGeom>
          <a:solidFill>
            <a:srgbClr val="F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3776472"/>
            <a:ext cx="4526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E0558F"/>
                </a:solidFill>
                <a:latin typeface="Calibri"/>
              </a:rPr>
              <a:t>Problem: </a:t>
            </a:r>
            <a:r>
              <a:rPr sz="1150" b="0" i="0">
                <a:solidFill>
                  <a:srgbClr val="2E1B5B"/>
                </a:solidFill>
                <a:latin typeface="Calibri"/>
              </a:rPr>
              <a:t>how do we choose every signal's phase, every 30 s, to minimise waiting across the whole grid, and can QAOA solve it?</a:t>
            </a:r>
          </a:p>
        </p:txBody>
      </p:sp>
      <p:sp>
        <p:nvSpPr>
          <p:cNvPr id="30" name="Stat wait"/>
          <p:cNvSpPr/>
          <p:nvPr/>
        </p:nvSpPr>
        <p:spPr>
          <a:xfrm>
            <a:off x="5852160" y="1901952"/>
            <a:ext cx="2560320" cy="1188720"/>
          </a:xfrm>
          <a:prstGeom prst="roundRect">
            <a:avLst>
              <a:gd name="adj" fmla="val 8000"/>
            </a:avLst>
          </a:prstGeom>
          <a:solidFill>
            <a:srgbClr val="EE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16752" y="2011680"/>
            <a:ext cx="2231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E0558F"/>
                </a:solidFill>
                <a:latin typeface="Georgia"/>
              </a:rPr>
              <a:t>83.5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16752" y="2505456"/>
            <a:ext cx="22311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6F7399"/>
                </a:solidFill>
                <a:latin typeface="Calibri"/>
              </a:rPr>
              <a:t>average wait per vehicle with fixed timers at rush hour (our 2×2 simulation)</a:t>
            </a:r>
          </a:p>
        </p:txBody>
      </p:sp>
      <p:sp>
        <p:nvSpPr>
          <p:cNvPr id="33" name="Stat plans"/>
          <p:cNvSpPr/>
          <p:nvPr/>
        </p:nvSpPr>
        <p:spPr>
          <a:xfrm>
            <a:off x="5852160" y="3227832"/>
            <a:ext cx="2560320" cy="1188720"/>
          </a:xfrm>
          <a:prstGeom prst="roundRect">
            <a:avLst>
              <a:gd name="adj" fmla="val 8000"/>
            </a:avLst>
          </a:prstGeom>
          <a:solidFill>
            <a:srgbClr val="EE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16752" y="3337560"/>
            <a:ext cx="22311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600" b="1" i="0">
                <a:solidFill>
                  <a:srgbClr val="6B3FD4"/>
                </a:solidFill>
                <a:latin typeface="Georgia"/>
              </a:rPr>
              <a:t>2³²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6752" y="3831336"/>
            <a:ext cx="22311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6F7399"/>
                </a:solidFill>
                <a:latin typeface="Calibri"/>
              </a:rPr>
              <a:t>possible plans for a 4×4 grid planned just one minute ahead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Novelty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p/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31520" y="1901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5B3BA8"/>
                </a:solidFill>
                <a:latin typeface="Georgia"/>
              </a:rPr>
              <a:t>Objectives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" y="2313432"/>
            <a:ext cx="329184" cy="329184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224942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2E1B5B"/>
                </a:solidFill>
                <a:latin typeface="Calibri"/>
              </a:rPr>
              <a:t>Model a city signal grid as a QUBO / Ising problem.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" y="2862072"/>
            <a:ext cx="329184" cy="329184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279806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2E1B5B"/>
                </a:solidFill>
                <a:latin typeface="Calibri"/>
              </a:rPr>
              <a:t>Solve it with QAOA, built and simulated in Qiskit.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" y="3410712"/>
            <a:ext cx="329184" cy="329184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334670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2E1B5B"/>
                </a:solidFill>
                <a:latin typeface="Calibri"/>
              </a:rPr>
              <a:t>Run QAOA as a live controller that re-plans every 30 s.</a:t>
            </a:r>
          </a:p>
        </p:txBody>
      </p:sp>
      <p:sp>
        <p:nvSpPr>
          <p:cNvPr id="33" name="Oval 32"/>
          <p:cNvSpPr/>
          <p:nvPr/>
        </p:nvSpPr>
        <p:spPr>
          <a:xfrm>
            <a:off x="731520" y="3959352"/>
            <a:ext cx="329184" cy="329184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389534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2E1B5B"/>
                </a:solidFill>
                <a:latin typeface="Calibri"/>
              </a:rPr>
              <a:t>Benchmark quality, cost, scalability and noise vs classical.</a:t>
            </a:r>
          </a:p>
        </p:txBody>
      </p:sp>
      <p:sp>
        <p:nvSpPr>
          <p:cNvPr id="35" name="Novelty panel"/>
          <p:cNvSpPr/>
          <p:nvPr/>
        </p:nvSpPr>
        <p:spPr>
          <a:xfrm>
            <a:off x="4617720" y="1856232"/>
            <a:ext cx="3794760" cy="2633472"/>
          </a:xfrm>
          <a:prstGeom prst="roundRect">
            <a:avLst>
              <a:gd name="adj" fmla="val 8000"/>
            </a:avLst>
          </a:prstGeom>
          <a:solidFill>
            <a:srgbClr val="EE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1975104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E0558F"/>
                </a:solidFill>
                <a:latin typeface="Georgia"/>
              </a:rPr>
              <a:t>What's new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2404872"/>
            <a:ext cx="33832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Signal timing, not routing. </a:t>
            </a:r>
            <a:r>
              <a:rPr sz="1200" b="0" i="0">
                <a:solidFill>
                  <a:srgbClr val="2E1B5B"/>
                </a:solidFill>
                <a:latin typeface="Calibri"/>
              </a:rPr>
              <a:t>Earlier quantum traffic work optimises routes; we time the lights.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Green waves emerge. </a:t>
            </a:r>
            <a:r>
              <a:rPr sz="1200" b="0" i="0">
                <a:solidFill>
                  <a:srgbClr val="2E1B5B"/>
                </a:solidFill>
                <a:latin typeface="Calibri"/>
              </a:rPr>
              <a:t>Squared predicted queues couple neighbours; nothing is hand-coded.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QAOA in closed loop. </a:t>
            </a:r>
            <a:r>
              <a:rPr sz="1200" b="0" i="0">
                <a:solidFill>
                  <a:srgbClr val="2E1B5B"/>
                </a:solidFill>
                <a:latin typeface="Calibri"/>
              </a:rPr>
              <a:t>Tested as a live controller on a traffic simulator, deployed online.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&amp; Quantum Advantage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p/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  <p:sp>
        <p:nvSpPr>
          <p:cNvPr id="26" name="Step 1"/>
          <p:cNvSpPr/>
          <p:nvPr/>
        </p:nvSpPr>
        <p:spPr>
          <a:xfrm>
            <a:off x="731520" y="1901952"/>
            <a:ext cx="1371600" cy="50292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1901952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Read queues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84831" y="1975104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6F7399"/>
                </a:solidFill>
                <a:latin typeface="Calibri"/>
              </a:rPr>
              <a:t>›</a:t>
            </a:r>
          </a:p>
        </p:txBody>
      </p:sp>
      <p:sp>
        <p:nvSpPr>
          <p:cNvPr id="29" name="Step 2"/>
          <p:cNvSpPr/>
          <p:nvPr/>
        </p:nvSpPr>
        <p:spPr>
          <a:xfrm>
            <a:off x="2267712" y="1901952"/>
            <a:ext cx="1371600" cy="502920"/>
          </a:xfrm>
          <a:prstGeom prst="roundRect">
            <a:avLst>
              <a:gd name="adj" fmla="val 8000"/>
            </a:avLst>
          </a:prstGeom>
          <a:solidFill>
            <a:srgbClr val="F5C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67712" y="1901952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2E1B5B"/>
                </a:solidFill>
                <a:latin typeface="Calibri"/>
              </a:rPr>
              <a:t>Predict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1024" y="1975104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6F7399"/>
                </a:solidFill>
                <a:latin typeface="Calibri"/>
              </a:rPr>
              <a:t>›</a:t>
            </a:r>
          </a:p>
        </p:txBody>
      </p:sp>
      <p:sp>
        <p:nvSpPr>
          <p:cNvPr id="32" name="Step 3"/>
          <p:cNvSpPr/>
          <p:nvPr/>
        </p:nvSpPr>
        <p:spPr>
          <a:xfrm>
            <a:off x="3803904" y="1901952"/>
            <a:ext cx="1371600" cy="502920"/>
          </a:xfrm>
          <a:prstGeom prst="roundRect">
            <a:avLst>
              <a:gd name="adj" fmla="val 8000"/>
            </a:avLst>
          </a:prstGeom>
          <a:solidFill>
            <a:srgbClr val="E05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03904" y="1901952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QUBO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57216" y="1975104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6F7399"/>
                </a:solidFill>
                <a:latin typeface="Calibri"/>
              </a:rPr>
              <a:t>›</a:t>
            </a:r>
          </a:p>
        </p:txBody>
      </p:sp>
      <p:sp>
        <p:nvSpPr>
          <p:cNvPr id="35" name="Step 4"/>
          <p:cNvSpPr/>
          <p:nvPr/>
        </p:nvSpPr>
        <p:spPr>
          <a:xfrm>
            <a:off x="5340096" y="1901952"/>
            <a:ext cx="1371600" cy="502920"/>
          </a:xfrm>
          <a:prstGeom prst="roundRect">
            <a:avLst>
              <a:gd name="adj" fmla="val 8000"/>
            </a:avLst>
          </a:prstGeom>
          <a:solidFill>
            <a:srgbClr val="6B3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40096" y="1901952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QAOA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3408" y="1975104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6F7399"/>
                </a:solidFill>
                <a:latin typeface="Calibri"/>
              </a:rPr>
              <a:t>›</a:t>
            </a:r>
          </a:p>
        </p:txBody>
      </p:sp>
      <p:sp>
        <p:nvSpPr>
          <p:cNvPr id="38" name="Step 5"/>
          <p:cNvSpPr/>
          <p:nvPr/>
        </p:nvSpPr>
        <p:spPr>
          <a:xfrm>
            <a:off x="6876288" y="1901952"/>
            <a:ext cx="1371600" cy="502920"/>
          </a:xfrm>
          <a:prstGeom prst="roundRect">
            <a:avLst>
              <a:gd name="adj" fmla="val 8000"/>
            </a:avLst>
          </a:prstGeom>
          <a:solidFill>
            <a:srgbClr val="2BB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76288" y="1901952"/>
            <a:ext cx="1371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Apply 30 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2523744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5B3BA8"/>
                </a:solidFill>
                <a:latin typeface="Calibri"/>
              </a:rPr>
              <a:t>One qubit per signal per slot: </a:t>
            </a:r>
            <a:r>
              <a:rPr sz="1150" b="0" i="0">
                <a:solidFill>
                  <a:srgbClr val="2E1B5B"/>
                </a:solidFill>
                <a:latin typeface="Calibri"/>
              </a:rPr>
              <a:t>|0⟩ = north–south green, |1⟩ = east–west green. </a:t>
            </a:r>
            <a:r>
              <a:rPr sz="1150" b="0" i="0">
                <a:solidFill>
                  <a:srgbClr val="6F7399"/>
                </a:solidFill>
                <a:latin typeface="Calibri"/>
              </a:rPr>
              <a:t>Cost = Σ squared queues + switching penalty → Ising H = Σ hZ + Σ JZZ.</a:t>
            </a:r>
          </a:p>
        </p:txBody>
      </p:sp>
      <p:sp>
        <p:nvSpPr>
          <p:cNvPr id="41" name="Why quantum"/>
          <p:cNvSpPr/>
          <p:nvPr/>
        </p:nvSpPr>
        <p:spPr>
          <a:xfrm>
            <a:off x="731520" y="2926080"/>
            <a:ext cx="3749039" cy="1481328"/>
          </a:xfrm>
          <a:prstGeom prst="roundRect">
            <a:avLst>
              <a:gd name="adj" fmla="val 8000"/>
            </a:avLst>
          </a:prstGeom>
          <a:solidFill>
            <a:srgbClr val="EE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3017520"/>
            <a:ext cx="34290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5B3BA8"/>
                </a:solidFill>
                <a:latin typeface="Georgia"/>
              </a:rPr>
              <a:t>Why quantum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2E1B5B"/>
                </a:solidFill>
                <a:latin typeface="Calibri"/>
              </a:rPr>
              <a:t>•  The QUBO is the native input of QAOA.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2E1B5B"/>
                </a:solidFill>
                <a:latin typeface="Calibri"/>
              </a:rPr>
              <a:t>•  One circuit holds all 2</a:t>
            </a:r>
            <a:r>
              <a:rPr sz="1250" b="0" i="0" baseline="30000">
                <a:solidFill>
                  <a:srgbClr val="2E1B5B"/>
                </a:solidFill>
                <a:latin typeface="Calibri"/>
              </a:rPr>
              <a:t>n</a:t>
            </a:r>
            <a:r>
              <a:rPr sz="1250" b="0" i="0">
                <a:solidFill>
                  <a:srgbClr val="2E1B5B"/>
                </a:solidFill>
                <a:latin typeface="Calibri"/>
              </a:rPr>
              <a:t> plans in superposition.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2E1B5B"/>
                </a:solidFill>
                <a:latin typeface="Calibri"/>
              </a:rPr>
              <a:t>•  Depth p trades circuit cost for quality.</a:t>
            </a:r>
          </a:p>
        </p:txBody>
      </p:sp>
      <p:sp>
        <p:nvSpPr>
          <p:cNvPr id="43" name="Honest status"/>
          <p:cNvSpPr/>
          <p:nvPr/>
        </p:nvSpPr>
        <p:spPr>
          <a:xfrm>
            <a:off x="4663440" y="2926080"/>
            <a:ext cx="3749039" cy="1481328"/>
          </a:xfrm>
          <a:prstGeom prst="roundRect">
            <a:avLst>
              <a:gd name="adj" fmla="val 8000"/>
            </a:avLst>
          </a:prstGeom>
          <a:solidFill>
            <a:srgbClr val="F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6320" y="3017520"/>
            <a:ext cx="342900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E0558F"/>
                </a:solidFill>
                <a:latin typeface="Georgia"/>
              </a:rPr>
              <a:t>Quantum advantage: honest status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2E1B5B"/>
                </a:solidFill>
                <a:latin typeface="Calibri"/>
              </a:rPr>
              <a:t>•  No speed-up yet: brute force solves 18 qubits in 0.1 s.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2E1B5B"/>
                </a:solidFill>
                <a:latin typeface="Calibri"/>
              </a:rPr>
              <a:t>•  We show feasibility: optimal plans, robust to noise.</a:t>
            </a:r>
          </a:p>
          <a:p>
            <a:pPr>
              <a:spcAft>
                <a:spcPts val="700"/>
              </a:spcAft>
            </a:pPr>
            <a:r>
              <a:rPr sz="1250" b="0" i="0">
                <a:solidFill>
                  <a:srgbClr val="2E1B5B"/>
                </a:solidFill>
                <a:latin typeface="Calibri"/>
              </a:rPr>
              <a:t>•  The pipeline is hardware-ready as devices grow.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&amp; Circuit Design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DDE2FC"/>
            </a:solidFill>
          </a:ln>
        </p:spPr>
        <p:txBody>
          <a:bodyPr/>
          <a:p/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p/>
        </p:txBody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  <p:pic>
        <p:nvPicPr>
          <p:cNvPr id="26" name="Picture 25" descr="fig_circu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098592"/>
            <a:ext cx="4718304" cy="128921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5800" y="3611880"/>
            <a:ext cx="4526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0" i="1">
                <a:solidFill>
                  <a:srgbClr val="6B3FD4"/>
                </a:solidFill>
                <a:latin typeface="Calibri"/>
              </a:rPr>
              <a:t>H</a:t>
            </a:r>
            <a:r>
              <a:rPr sz="1200" b="0" i="1">
                <a:solidFill>
                  <a:srgbClr val="6B3FD4"/>
                </a:solidFill>
                <a:latin typeface="Calibri"/>
              </a:rPr>
              <a:t> = Σ h</a:t>
            </a:r>
            <a:r>
              <a:rPr sz="1200" b="0" i="1" baseline="-25000">
                <a:solidFill>
                  <a:srgbClr val="6B3FD4"/>
                </a:solidFill>
                <a:latin typeface="Calibri"/>
              </a:rPr>
              <a:t>k</a:t>
            </a:r>
            <a:r>
              <a:rPr sz="1200" b="0" i="1">
                <a:solidFill>
                  <a:srgbClr val="6B3FD4"/>
                </a:solidFill>
                <a:latin typeface="Calibri"/>
              </a:rPr>
              <a:t> Z</a:t>
            </a:r>
            <a:r>
              <a:rPr sz="1200" b="0" i="1" baseline="-25000">
                <a:solidFill>
                  <a:srgbClr val="6B3FD4"/>
                </a:solidFill>
                <a:latin typeface="Calibri"/>
              </a:rPr>
              <a:t>k</a:t>
            </a:r>
            <a:r>
              <a:rPr sz="1200" b="0" i="1">
                <a:solidFill>
                  <a:srgbClr val="6B3FD4"/>
                </a:solidFill>
                <a:latin typeface="Calibri"/>
              </a:rPr>
              <a:t> + Σ J</a:t>
            </a:r>
            <a:r>
              <a:rPr sz="1200" b="0" i="1" baseline="-25000">
                <a:solidFill>
                  <a:srgbClr val="6B3FD4"/>
                </a:solidFill>
                <a:latin typeface="Calibri"/>
              </a:rPr>
              <a:t>kl</a:t>
            </a:r>
            <a:r>
              <a:rPr sz="1200" b="0" i="1">
                <a:solidFill>
                  <a:srgbClr val="6B3FD4"/>
                </a:solidFill>
                <a:latin typeface="Calibri"/>
              </a:rPr>
              <a:t> Z</a:t>
            </a:r>
            <a:r>
              <a:rPr sz="1200" b="0" i="1" baseline="-25000">
                <a:solidFill>
                  <a:srgbClr val="6B3FD4"/>
                </a:solidFill>
                <a:latin typeface="Calibri"/>
              </a:rPr>
              <a:t>k</a:t>
            </a:r>
            <a:r>
              <a:rPr sz="1200" b="0" i="1">
                <a:solidFill>
                  <a:srgbClr val="6B3FD4"/>
                </a:solidFill>
                <a:latin typeface="Calibri"/>
              </a:rPr>
              <a:t>Z</a:t>
            </a:r>
            <a:r>
              <a:rPr sz="1200" b="0" i="1" baseline="-25000">
                <a:solidFill>
                  <a:srgbClr val="6B3FD4"/>
                </a:solidFill>
                <a:latin typeface="Calibri"/>
              </a:rPr>
              <a:t>l</a:t>
            </a:r>
            <a:r>
              <a:rPr sz="1200" b="0" i="1">
                <a:solidFill>
                  <a:srgbClr val="6B3FD4"/>
                </a:solidFill>
                <a:latin typeface="Calibri"/>
              </a:rPr>
              <a:t>      |γ,β⟩ = Π e</a:t>
            </a:r>
            <a:r>
              <a:rPr sz="1200" b="0" i="1" baseline="30000">
                <a:solidFill>
                  <a:srgbClr val="6B3FD4"/>
                </a:solidFill>
                <a:latin typeface="Calibri"/>
              </a:rPr>
              <a:t>−iβΣX</a:t>
            </a:r>
            <a:r>
              <a:rPr sz="1200" b="0" i="1">
                <a:solidFill>
                  <a:srgbClr val="6B3FD4"/>
                </a:solidFill>
                <a:latin typeface="Calibri"/>
              </a:rPr>
              <a:t> e</a:t>
            </a:r>
            <a:r>
              <a:rPr sz="1200" b="0" i="1" baseline="30000">
                <a:solidFill>
                  <a:srgbClr val="6B3FD4"/>
                </a:solidFill>
                <a:latin typeface="Calibri"/>
              </a:rPr>
              <a:t>−iγH</a:t>
            </a:r>
            <a:r>
              <a:rPr sz="1200" b="0" i="1">
                <a:solidFill>
                  <a:srgbClr val="6B3FD4"/>
                </a:solidFill>
                <a:latin typeface="Calibri"/>
              </a:rPr>
              <a:t> |+⟩</a:t>
            </a:r>
            <a:r>
              <a:rPr sz="1200" b="0" i="1" baseline="30000">
                <a:solidFill>
                  <a:srgbClr val="6B3FD4"/>
                </a:solidFill>
                <a:latin typeface="Calibri"/>
              </a:rPr>
              <a:t>⊗n</a:t>
            </a:r>
          </a:p>
          <a:p>
            <a:pPr>
              <a:spcAft>
                <a:spcPts val="600"/>
              </a:spcAft>
            </a:pPr>
            <a:r>
              <a:rPr sz="1000" b="0" i="0">
                <a:solidFill>
                  <a:srgbClr val="6F7399"/>
                </a:solidFill>
                <a:latin typeface="Calibri"/>
              </a:rPr>
              <a:t>Fig.: one QAOA layer for a 2×2 grid (qubits A1–B2), drawn with qc.draw("mpl").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1901952"/>
            <a:ext cx="26974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6B3FD4"/>
                </a:solidFill>
                <a:latin typeface="Calibri"/>
              </a:rPr>
              <a:t>H</a:t>
            </a:r>
            <a:r>
              <a:rPr sz="1200" b="0" i="0">
                <a:solidFill>
                  <a:srgbClr val="2E1B5B"/>
                </a:solidFill>
                <a:latin typeface="Calibri"/>
              </a:rPr>
              <a:t>  superposition of every plan</a:t>
            </a:r>
          </a:p>
          <a:p>
            <a:pPr>
              <a:spcAft>
                <a:spcPts val="900"/>
              </a:spcAft>
            </a:pPr>
            <a:r>
              <a:rPr sz="1200" b="1" i="0">
                <a:solidFill>
                  <a:srgbClr val="E0558F"/>
                </a:solidFill>
                <a:latin typeface="Calibri"/>
              </a:rPr>
              <a:t>RZ · RZZ (γ)</a:t>
            </a:r>
            <a:r>
              <a:rPr sz="1200" b="0" i="0">
                <a:solidFill>
                  <a:srgbClr val="2E1B5B"/>
                </a:solidFill>
                <a:latin typeface="Calibri"/>
              </a:rPr>
              <a:t>  queue pressure + couplings to neighbours and next slot</a:t>
            </a:r>
          </a:p>
          <a:p>
            <a:pPr>
              <a:spcAft>
                <a:spcPts val="900"/>
              </a:spcAft>
            </a:pPr>
            <a:r>
              <a:rPr sz="1200" b="1" i="0">
                <a:solidFill>
                  <a:srgbClr val="B58A00"/>
                </a:solidFill>
                <a:latin typeface="Calibri"/>
              </a:rPr>
              <a:t>RX (β)</a:t>
            </a:r>
            <a:r>
              <a:rPr sz="1200" b="0" i="0">
                <a:solidFill>
                  <a:srgbClr val="2E1B5B"/>
                </a:solidFill>
                <a:latin typeface="Calibri"/>
              </a:rPr>
              <a:t>  mixer between plans</a:t>
            </a:r>
          </a:p>
          <a:p>
            <a:pPr>
              <a:spcAft>
                <a:spcPts val="90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Measure</a:t>
            </a:r>
            <a:r>
              <a:rPr sz="1200" b="0" i="0">
                <a:solidFill>
                  <a:srgbClr val="2E1B5B"/>
                </a:solidFill>
                <a:latin typeface="Calibri"/>
              </a:rPr>
              <a:t>  1024 shots, keep the cheapest plan</a:t>
            </a:r>
          </a:p>
          <a:p>
            <a:pPr>
              <a:spcAft>
                <a:spcPts val="900"/>
              </a:spcAft>
            </a:pPr>
            <a:r>
              <a:rPr sz="1100" b="0" i="0">
                <a:solidFill>
                  <a:srgbClr val="6F7399"/>
                </a:solidFill>
                <a:latin typeface="Calibri"/>
              </a:rPr>
              <a:t>Trained with COBYLA + INTERP; p = 1–4. At 8 qubits, p = 2: 80 CNOTs, depth 75.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Tech Stack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p/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731520" y="19019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5B3BA8"/>
                </a:solidFill>
                <a:latin typeface="Georgia"/>
              </a:rPr>
              <a:t>Tech stack</a:t>
            </a:r>
          </a:p>
        </p:txBody>
      </p:sp>
      <p:sp>
        <p:nvSpPr>
          <p:cNvPr id="27" name="Stack Python 3.11"/>
          <p:cNvSpPr/>
          <p:nvPr/>
        </p:nvSpPr>
        <p:spPr>
          <a:xfrm>
            <a:off x="731520" y="2286000"/>
            <a:ext cx="1810512" cy="640080"/>
          </a:xfrm>
          <a:prstGeom prst="roundRect">
            <a:avLst>
              <a:gd name="adj" fmla="val 8000"/>
            </a:avLst>
          </a:prstGeom>
          <a:solidFill>
            <a:srgbClr val="EE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9536" y="2487168"/>
            <a:ext cx="237744" cy="237744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2359152"/>
            <a:ext cx="12801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Python 3.11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6F7399"/>
                </a:solidFill>
                <a:latin typeface="Calibri"/>
              </a:rPr>
              <a:t>core language</a:t>
            </a:r>
          </a:p>
        </p:txBody>
      </p:sp>
      <p:sp>
        <p:nvSpPr>
          <p:cNvPr id="30" name="Stack Qiskit 2.x"/>
          <p:cNvSpPr/>
          <p:nvPr/>
        </p:nvSpPr>
        <p:spPr>
          <a:xfrm>
            <a:off x="2688336" y="2286000"/>
            <a:ext cx="1810512" cy="640080"/>
          </a:xfrm>
          <a:prstGeom prst="roundRect">
            <a:avLst>
              <a:gd name="adj" fmla="val 8000"/>
            </a:avLst>
          </a:prstGeom>
          <a:solidFill>
            <a:srgbClr val="EE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6352" y="2487168"/>
            <a:ext cx="237744" cy="237744"/>
          </a:xfrm>
          <a:prstGeom prst="ellipse">
            <a:avLst/>
          </a:prstGeom>
          <a:solidFill>
            <a:srgbClr val="6B3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45536" y="2359152"/>
            <a:ext cx="12801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Qiskit 2.x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6F7399"/>
                </a:solidFill>
                <a:latin typeface="Calibri"/>
              </a:rPr>
              <a:t>circuits · Statevector</a:t>
            </a:r>
          </a:p>
        </p:txBody>
      </p:sp>
      <p:sp>
        <p:nvSpPr>
          <p:cNvPr id="33" name="Stack Qiskit Aer"/>
          <p:cNvSpPr/>
          <p:nvPr/>
        </p:nvSpPr>
        <p:spPr>
          <a:xfrm>
            <a:off x="731520" y="3017520"/>
            <a:ext cx="1810512" cy="640080"/>
          </a:xfrm>
          <a:prstGeom prst="roundRect">
            <a:avLst>
              <a:gd name="adj" fmla="val 8000"/>
            </a:avLst>
          </a:prstGeom>
          <a:solidFill>
            <a:srgbClr val="EE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59536" y="3218688"/>
            <a:ext cx="237744" cy="237744"/>
          </a:xfrm>
          <a:prstGeom prst="ellipse">
            <a:avLst/>
          </a:prstGeom>
          <a:solidFill>
            <a:srgbClr val="E05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3090672"/>
            <a:ext cx="12801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Qiskit Aer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6F7399"/>
                </a:solidFill>
                <a:latin typeface="Calibri"/>
              </a:rPr>
              <a:t>noisy shot simulation</a:t>
            </a:r>
          </a:p>
        </p:txBody>
      </p:sp>
      <p:sp>
        <p:nvSpPr>
          <p:cNvPr id="36" name="Stack NumPy · SciPy"/>
          <p:cNvSpPr/>
          <p:nvPr/>
        </p:nvSpPr>
        <p:spPr>
          <a:xfrm>
            <a:off x="2688336" y="3017520"/>
            <a:ext cx="1810512" cy="640080"/>
          </a:xfrm>
          <a:prstGeom prst="roundRect">
            <a:avLst>
              <a:gd name="adj" fmla="val 8000"/>
            </a:avLst>
          </a:prstGeom>
          <a:solidFill>
            <a:srgbClr val="EE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816352" y="3218688"/>
            <a:ext cx="237744" cy="23774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45536" y="3090672"/>
            <a:ext cx="12801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NumPy · SciPy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6F7399"/>
                </a:solidFill>
                <a:latin typeface="Calibri"/>
              </a:rPr>
              <a:t>QUBO maths · COBYLA</a:t>
            </a:r>
          </a:p>
        </p:txBody>
      </p:sp>
      <p:sp>
        <p:nvSpPr>
          <p:cNvPr id="39" name="Stack Streamlit"/>
          <p:cNvSpPr/>
          <p:nvPr/>
        </p:nvSpPr>
        <p:spPr>
          <a:xfrm>
            <a:off x="731520" y="3749039"/>
            <a:ext cx="1810512" cy="640080"/>
          </a:xfrm>
          <a:prstGeom prst="roundRect">
            <a:avLst>
              <a:gd name="adj" fmla="val 8000"/>
            </a:avLst>
          </a:prstGeom>
          <a:solidFill>
            <a:srgbClr val="EE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59536" y="3950207"/>
            <a:ext cx="237744" cy="237744"/>
          </a:xfrm>
          <a:prstGeom prst="ellipse">
            <a:avLst/>
          </a:prstGeom>
          <a:solidFill>
            <a:srgbClr val="2BB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88720" y="3822191"/>
            <a:ext cx="12801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Streamlit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6F7399"/>
                </a:solidFill>
                <a:latin typeface="Calibri"/>
              </a:rPr>
              <a:t>live dashboard</a:t>
            </a:r>
          </a:p>
        </p:txBody>
      </p:sp>
      <p:sp>
        <p:nvSpPr>
          <p:cNvPr id="42" name="Stack Docker · nginx"/>
          <p:cNvSpPr/>
          <p:nvPr/>
        </p:nvSpPr>
        <p:spPr>
          <a:xfrm>
            <a:off x="2688336" y="3749039"/>
            <a:ext cx="1810512" cy="640080"/>
          </a:xfrm>
          <a:prstGeom prst="roundRect">
            <a:avLst>
              <a:gd name="adj" fmla="val 8000"/>
            </a:avLst>
          </a:prstGeom>
          <a:solidFill>
            <a:srgbClr val="EE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816352" y="3950207"/>
            <a:ext cx="237744" cy="237744"/>
          </a:xfrm>
          <a:prstGeom prst="ellipse">
            <a:avLst/>
          </a:prstGeom>
          <a:solidFill>
            <a:srgbClr val="B5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45536" y="3822191"/>
            <a:ext cx="12801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2E1B5B"/>
                </a:solidFill>
                <a:latin typeface="Calibri"/>
              </a:rPr>
              <a:t>Docker · nginx</a:t>
            </a:r>
          </a:p>
          <a:p>
            <a:pPr>
              <a:spcAft>
                <a:spcPts val="0"/>
              </a:spcAft>
            </a:pPr>
            <a:r>
              <a:rPr sz="1000" b="0" i="0">
                <a:solidFill>
                  <a:srgbClr val="6F7399"/>
                </a:solidFill>
                <a:latin typeface="Calibri"/>
              </a:rPr>
              <a:t>deployed on our VPS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190195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5B3BA8"/>
                </a:solidFill>
                <a:latin typeface="Georgia"/>
              </a:rPr>
              <a:t>How it is built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2286000"/>
            <a:ext cx="356616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700"/>
              </a:spcAft>
            </a:pPr>
            <a:r>
              <a:rPr sz="1150" b="1" i="0">
                <a:solidFill>
                  <a:srgbClr val="5B3BA8"/>
                </a:solidFill>
                <a:latin typeface="Calibri"/>
              </a:rPr>
              <a:t>qtraffic/</a:t>
            </a:r>
            <a:r>
              <a:rPr sz="1150" b="0" i="0">
                <a:solidFill>
                  <a:srgbClr val="2E1B5B"/>
                </a:solidFill>
                <a:latin typeface="Calibri"/>
              </a:rPr>
              <a:t> package: network, simulator, QUBO formulation, QAOA solver, controllers.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5B3BA8"/>
                </a:solidFill>
                <a:latin typeface="Calibri"/>
              </a:rPr>
              <a:t>Benchmarks: </a:t>
            </a:r>
            <a:r>
              <a:rPr sz="1150" b="0" i="0">
                <a:solidFill>
                  <a:srgbClr val="2E1B5B"/>
                </a:solidFill>
                <a:latin typeface="Calibri"/>
              </a:rPr>
              <a:t>4 scenarios × 5 controllers, 3 seeds; up to 32-qubit circuit analysis.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5B3BA8"/>
                </a:solidFill>
                <a:latin typeface="Calibri"/>
              </a:rPr>
              <a:t>Quality: </a:t>
            </a:r>
            <a:r>
              <a:rPr sz="1150" b="0" i="0">
                <a:solidFill>
                  <a:srgbClr val="2E1B5B"/>
                </a:solidFill>
                <a:latin typeface="Calibri"/>
              </a:rPr>
              <a:t>26 automated tests, GitHub Actions CI, MIT licence.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5B3BA8"/>
                </a:solidFill>
                <a:latin typeface="Calibri"/>
              </a:rPr>
              <a:t>Live: </a:t>
            </a:r>
            <a:r>
              <a:rPr sz="1150" b="0" i="0">
                <a:solidFill>
                  <a:srgbClr val="E0558F"/>
                </a:solidFill>
                <a:latin typeface="Calibri"/>
                <a:hlinkClick r:id="rId3"/>
              </a:rPr>
              <a:t>qtraffic.harshithk.tech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6" name="Insert area"/>
          <p:cNvSpPr/>
          <p:nvPr/>
        </p:nvSpPr>
        <p:spPr>
          <a:xfrm>
            <a:off x="457200" y="169164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DDE2FC"/>
            </a:solidFill>
          </a:ln>
        </p:spPr>
        <p:txBody>
          <a:bodyPr/>
          <a:p/>
        </p:txBody>
      </p:sp>
      <p:sp>
        <p:nvSpPr>
          <p:cNvPr id="8" name="Content card"/>
          <p:cNvSpPr/>
          <p:nvPr/>
        </p:nvSpPr>
        <p:spPr>
          <a:xfrm>
            <a:off x="5577840" y="1691640"/>
            <a:ext cx="310896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p/>
        </p:txBody>
      </p:sp>
      <p:sp>
        <p:nvSpPr>
          <p:cNvPr id="9" name="Card accent"/>
          <p:cNvSpPr/>
          <p:nvPr/>
        </p:nvSpPr>
        <p:spPr>
          <a:xfrm>
            <a:off x="5806440" y="1691640"/>
            <a:ext cx="822960" cy="54864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  <p:graphicFrame>
        <p:nvGraphicFramePr>
          <p:cNvPr id="26" name="Average wait chart"/>
          <p:cNvGraphicFramePr>
            <a:graphicFrameLocks noGrp="1"/>
          </p:cNvGraphicFramePr>
          <p:nvPr/>
        </p:nvGraphicFramePr>
        <p:xfrm>
          <a:off x="548640" y="1755648"/>
          <a:ext cx="4754880" cy="27980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806440" y="1901952"/>
            <a:ext cx="269748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400" b="1" i="0">
                <a:solidFill>
                  <a:srgbClr val="E0558F"/>
                </a:solidFill>
                <a:latin typeface="Georgia"/>
              </a:rPr>
              <a:t>−64%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2E1B5B"/>
                </a:solidFill>
                <a:latin typeface="Calibri"/>
              </a:rPr>
              <a:t>wait vs fixed timers at rush hour (83.5 → 30.2 s); 12% below actuated.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6B3FD4"/>
                </a:solidFill>
                <a:latin typeface="Calibri"/>
              </a:rPr>
              <a:t>100%</a:t>
            </a:r>
            <a:r>
              <a:rPr sz="1050" b="0" i="0">
                <a:solidFill>
                  <a:srgbClr val="2E1B5B"/>
                </a:solidFill>
                <a:latin typeface="Calibri"/>
              </a:rPr>
              <a:t>  optimal plans found up to 12 qubits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0.85 → 0.93</a:t>
            </a:r>
            <a:r>
              <a:rPr sz="1050" b="0" i="0">
                <a:solidFill>
                  <a:srgbClr val="2E1B5B"/>
                </a:solidFill>
                <a:latin typeface="Calibri"/>
              </a:rPr>
              <a:t>  approx. ratio as p goes 1 → 4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B58A00"/>
                </a:solidFill>
                <a:latin typeface="Calibri"/>
              </a:rPr>
              <a:t>1% noise</a:t>
            </a:r>
            <a:r>
              <a:rPr sz="1050" b="0" i="0">
                <a:solidFill>
                  <a:srgbClr val="2E1B5B"/>
                </a:solidFill>
                <a:latin typeface="Calibri"/>
              </a:rPr>
              <a:t>  still optimal on Qiskit Aer</a:t>
            </a:r>
          </a:p>
          <a:p>
            <a:pPr>
              <a:spcAft>
                <a:spcPts val="600"/>
              </a:spcAft>
            </a:pPr>
            <a:r>
              <a:rPr sz="1050" b="0" i="1">
                <a:solidFill>
                  <a:srgbClr val="6F7399"/>
                </a:solidFill>
                <a:latin typeface="Calibri"/>
              </a:rPr>
              <a:t>Limit: classical solvers are still faster at this size.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Real-World Applications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p/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  <p:sp>
        <p:nvSpPr>
          <p:cNvPr id="26" name="Impact Commuters"/>
          <p:cNvSpPr/>
          <p:nvPr/>
        </p:nvSpPr>
        <p:spPr>
          <a:xfrm>
            <a:off x="731520" y="1901952"/>
            <a:ext cx="2450592" cy="2542032"/>
          </a:xfrm>
          <a:prstGeom prst="roundRect">
            <a:avLst>
              <a:gd name="adj" fmla="val 8000"/>
            </a:avLst>
          </a:prstGeom>
          <a:solidFill>
            <a:srgbClr val="EE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2084832"/>
            <a:ext cx="384048" cy="384048"/>
          </a:xfrm>
          <a:prstGeom prst="ellipse">
            <a:avLst/>
          </a:prstGeom>
          <a:solidFill>
            <a:srgbClr val="E055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2121408"/>
            <a:ext cx="16276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2E1B5B"/>
                </a:solidFill>
                <a:latin typeface="Georgia"/>
              </a:rPr>
              <a:t>Commuters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633472"/>
            <a:ext cx="208483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2E1B5B"/>
                </a:solidFill>
                <a:latin typeface="Calibri"/>
              </a:rPr>
              <a:t>•  Shorter waits at busy junctions.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2E1B5B"/>
                </a:solidFill>
                <a:latin typeface="Calibri"/>
              </a:rPr>
              <a:t>•  Less idling, so less fuel burnt and fewer emissions.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2E1B5B"/>
                </a:solidFill>
                <a:latin typeface="Calibri"/>
              </a:rPr>
              <a:t>•  Smoother green waves along arterials.</a:t>
            </a:r>
          </a:p>
        </p:txBody>
      </p:sp>
      <p:sp>
        <p:nvSpPr>
          <p:cNvPr id="30" name="Impact Cities"/>
          <p:cNvSpPr/>
          <p:nvPr/>
        </p:nvSpPr>
        <p:spPr>
          <a:xfrm>
            <a:off x="3346704" y="1901952"/>
            <a:ext cx="2450592" cy="2542032"/>
          </a:xfrm>
          <a:prstGeom prst="roundRect">
            <a:avLst>
              <a:gd name="adj" fmla="val 8000"/>
            </a:avLst>
          </a:prstGeom>
          <a:solidFill>
            <a:srgbClr val="EE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529584" y="2084832"/>
            <a:ext cx="384048" cy="384048"/>
          </a:xfrm>
          <a:prstGeom prst="ellipse">
            <a:avLst/>
          </a:prstGeom>
          <a:solidFill>
            <a:srgbClr val="6B3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32504" y="2121408"/>
            <a:ext cx="16276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2E1B5B"/>
                </a:solidFill>
                <a:latin typeface="Georgia"/>
              </a:rPr>
              <a:t>Cities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9584" y="2633472"/>
            <a:ext cx="208483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2E1B5B"/>
                </a:solidFill>
                <a:latin typeface="Calibri"/>
              </a:rPr>
              <a:t>•  Adaptive control for smart-city corridors.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2E1B5B"/>
                </a:solidFill>
                <a:latin typeface="Calibri"/>
              </a:rPr>
              <a:t>•  Handles event and emergency surges.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2E1B5B"/>
                </a:solidFill>
                <a:latin typeface="Calibri"/>
              </a:rPr>
              <a:t>•  Reuses existing queue detectors.</a:t>
            </a:r>
          </a:p>
        </p:txBody>
      </p:sp>
      <p:sp>
        <p:nvSpPr>
          <p:cNvPr id="34" name="Impact Quantum community"/>
          <p:cNvSpPr/>
          <p:nvPr/>
        </p:nvSpPr>
        <p:spPr>
          <a:xfrm>
            <a:off x="5961888" y="1901952"/>
            <a:ext cx="2450592" cy="2542032"/>
          </a:xfrm>
          <a:prstGeom prst="roundRect">
            <a:avLst>
              <a:gd name="adj" fmla="val 8000"/>
            </a:avLst>
          </a:prstGeom>
          <a:solidFill>
            <a:srgbClr val="EE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144768" y="2084832"/>
            <a:ext cx="384048" cy="384048"/>
          </a:xfrm>
          <a:prstGeom prst="ellipse">
            <a:avLst/>
          </a:prstGeom>
          <a:solidFill>
            <a:srgbClr val="2BB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7688" y="2121408"/>
            <a:ext cx="16276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2E1B5B"/>
                </a:solidFill>
                <a:latin typeface="Georgia"/>
              </a:rPr>
              <a:t>Quantum community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2633472"/>
            <a:ext cx="2084832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2E1B5B"/>
                </a:solidFill>
                <a:latin typeface="Calibri"/>
              </a:rPr>
              <a:t>•  A real-world QUBO benchmark for QAOA.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2E1B5B"/>
                </a:solidFill>
                <a:latin typeface="Calibri"/>
              </a:rPr>
              <a:t>•  Open source (MIT) and reproducible.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2E1B5B"/>
                </a:solidFill>
                <a:latin typeface="Calibri"/>
              </a:rPr>
              <a:t>•  Ready for IBM Quantum hardware.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>
            <a:spLocks noGrp="1"/>
          </p:cNvSpPr>
          <p:nvPr>
            <p:ph type="title" idx="120" hasCustomPrompt="1"/>
          </p:nvPr>
        </p:nvSpPr>
        <p:spPr>
          <a:xfrm>
            <a:off x="457200" y="84124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Future Scope</a:t>
            </a:r>
            <a:endParaRPr lang="en-US" sz="2600" dirty="0"/>
          </a:p>
        </p:txBody>
      </p:sp>
      <p:sp>
        <p:nvSpPr>
          <p:cNvPr id="3" name="Title accent"/>
          <p:cNvSpPr/>
          <p:nvPr/>
        </p:nvSpPr>
        <p:spPr>
          <a:xfrm>
            <a:off x="457200" y="1463040"/>
            <a:ext cx="256032" cy="45720"/>
          </a:xfrm>
          <a:prstGeom prst="rect">
            <a:avLst/>
          </a:prstGeom>
          <a:solidFill>
            <a:srgbClr val="7C93F0"/>
          </a:solidFill>
          <a:ln w="12700">
            <a:solidFill>
              <a:srgbClr val="7C93F0"/>
            </a:solidFill>
            <a:prstDash val="solid"/>
          </a:ln>
        </p:spPr>
        <p:txBody>
          <a:bodyPr/>
          <a:p/>
        </p:txBody>
      </p:sp>
      <p:sp>
        <p:nvSpPr>
          <p:cNvPr id="4" name="Title accent"/>
          <p:cNvSpPr/>
          <p:nvPr/>
        </p:nvSpPr>
        <p:spPr>
          <a:xfrm>
            <a:off x="731520" y="1463040"/>
            <a:ext cx="256032" cy="45720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5" name="Title accent"/>
          <p:cNvSpPr/>
          <p:nvPr/>
        </p:nvSpPr>
        <p:spPr>
          <a:xfrm>
            <a:off x="1005840" y="1463040"/>
            <a:ext cx="256032" cy="45720"/>
          </a:xfrm>
          <a:prstGeom prst="rect">
            <a:avLst/>
          </a:prstGeom>
          <a:solidFill>
            <a:srgbClr val="5B3BA8"/>
          </a:solidFill>
          <a:ln w="12700">
            <a:solidFill>
              <a:srgbClr val="5B3BA8"/>
            </a:solidFill>
            <a:prstDash val="solid"/>
          </a:ln>
        </p:spPr>
        <p:txBody>
          <a:bodyPr/>
          <a:p/>
        </p:txBody>
      </p:sp>
      <p:sp>
        <p:nvSpPr>
          <p:cNvPr id="6" name="Content card"/>
          <p:cNvSpPr/>
          <p:nvPr/>
        </p:nvSpPr>
        <p:spPr>
          <a:xfrm>
            <a:off x="457200" y="169164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B8BDEB"/>
            </a:solidFill>
            <a:prstDash val="solid"/>
          </a:ln>
        </p:spPr>
        <p:txBody>
          <a:bodyPr/>
          <a:p/>
        </p:txBody>
      </p:sp>
      <p:sp>
        <p:nvSpPr>
          <p:cNvPr id="7" name="Card accent"/>
          <p:cNvSpPr/>
          <p:nvPr/>
        </p:nvSpPr>
        <p:spPr>
          <a:xfrm>
            <a:off x="685800" y="1691640"/>
            <a:ext cx="822960" cy="54864"/>
          </a:xfrm>
          <a:prstGeom prst="rect">
            <a:avLst/>
          </a:prstGeom>
          <a:solidFill>
            <a:srgbClr val="E8639F"/>
          </a:solidFill>
          <a:ln w="12700">
            <a:solidFill>
              <a:srgbClr val="E8639F"/>
            </a:solidFill>
            <a:prstDash val="solid"/>
          </a:ln>
        </p:spPr>
        <p:txBody>
          <a:bodyPr/>
          <a:p/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6460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900">
                <a:solidFill>
                  <a:srgbClr val="2E1B5B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  <p:sp>
        <p:nvSpPr>
          <p:cNvPr id="26" name="Challenges panel"/>
          <p:cNvSpPr/>
          <p:nvPr/>
        </p:nvSpPr>
        <p:spPr>
          <a:xfrm>
            <a:off x="731520" y="1856232"/>
            <a:ext cx="3749039" cy="2633472"/>
          </a:xfrm>
          <a:prstGeom prst="roundRect">
            <a:avLst>
              <a:gd name="adj" fmla="val 8000"/>
            </a:avLst>
          </a:prstGeom>
          <a:solidFill>
            <a:srgbClr val="FCE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1975104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E0558F"/>
                </a:solidFill>
                <a:latin typeface="Georgia"/>
              </a:rPr>
              <a:t>Challenges we hit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2359152"/>
            <a:ext cx="338328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150" b="1" i="0">
                <a:solidFill>
                  <a:srgbClr val="2E1B5B"/>
                </a:solidFill>
                <a:latin typeface="Calibri"/>
              </a:rPr>
              <a:t>P(optimum) shrinks </a:t>
            </a:r>
            <a:r>
              <a:rPr sz="1150" b="0" i="0">
                <a:solidFill>
                  <a:srgbClr val="2E1B5B"/>
                </a:solidFill>
                <a:latin typeface="Calibri"/>
              </a:rPr>
              <a:t>as qubits grow, so sampling matters.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2E1B5B"/>
                </a:solidFill>
                <a:latin typeface="Calibri"/>
              </a:rPr>
              <a:t>CNOT count grows </a:t>
            </a:r>
            <a:r>
              <a:rPr sz="1150" b="0" i="0">
                <a:solidFill>
                  <a:srgbClr val="2E1B5B"/>
                </a:solidFill>
                <a:latin typeface="Calibri"/>
              </a:rPr>
              <a:t>with the city: 32 qubits ≈ 450 CNOTs at p = 2.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2E1B5B"/>
                </a:solidFill>
                <a:latin typeface="Calibri"/>
              </a:rPr>
              <a:t>Noise above 1–2% </a:t>
            </a:r>
            <a:r>
              <a:rPr sz="1150" b="0" i="0">
                <a:solidFill>
                  <a:srgbClr val="2E1B5B"/>
                </a:solidFill>
                <a:latin typeface="Calibri"/>
              </a:rPr>
              <a:t>visibly lowers solution quality.</a:t>
            </a:r>
          </a:p>
          <a:p>
            <a:pPr>
              <a:spcAft>
                <a:spcPts val="600"/>
              </a:spcAft>
            </a:pPr>
            <a:r>
              <a:rPr sz="1150" b="1" i="0">
                <a:solidFill>
                  <a:srgbClr val="2E1B5B"/>
                </a:solidFill>
                <a:latin typeface="Calibri"/>
              </a:rPr>
              <a:t>Aer crashed in containers; </a:t>
            </a:r>
            <a:r>
              <a:rPr sz="1150" b="0" i="0">
                <a:solidFill>
                  <a:srgbClr val="2E1B5B"/>
                </a:solidFill>
                <a:latin typeface="Calibri"/>
              </a:rPr>
              <a:t>fixed by tuning glibc's TLS reserve.</a:t>
            </a:r>
          </a:p>
        </p:txBody>
      </p:sp>
      <p:sp>
        <p:nvSpPr>
          <p:cNvPr id="29" name="Future panel"/>
          <p:cNvSpPr/>
          <p:nvPr/>
        </p:nvSpPr>
        <p:spPr>
          <a:xfrm>
            <a:off x="4663440" y="1856232"/>
            <a:ext cx="3749039" cy="2633472"/>
          </a:xfrm>
          <a:prstGeom prst="roundRect">
            <a:avLst>
              <a:gd name="adj" fmla="val 8000"/>
            </a:avLst>
          </a:prstGeom>
          <a:solidFill>
            <a:srgbClr val="EE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64608" y="1975104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5B3BA8"/>
                </a:solidFill>
                <a:latin typeface="Georgia"/>
              </a:rPr>
              <a:t>Future scope</a:t>
            </a:r>
          </a:p>
        </p:txBody>
      </p:sp>
      <p:sp>
        <p:nvSpPr>
          <p:cNvPr id="31" name="Oval 30"/>
          <p:cNvSpPr/>
          <p:nvPr/>
        </p:nvSpPr>
        <p:spPr>
          <a:xfrm>
            <a:off x="4864608" y="2414016"/>
            <a:ext cx="274320" cy="274320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237744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2E1B5B"/>
                </a:solidFill>
                <a:latin typeface="Calibri"/>
              </a:rPr>
              <a:t>Run on IBM Quantum </a:t>
            </a:r>
            <a:r>
              <a:rPr sz="1150" b="0" i="0">
                <a:solidFill>
                  <a:srgbClr val="2E1B5B"/>
                </a:solidFill>
                <a:latin typeface="Calibri"/>
              </a:rPr>
              <a:t>via Qiskit Runtime with error mitigation.</a:t>
            </a:r>
          </a:p>
        </p:txBody>
      </p:sp>
      <p:sp>
        <p:nvSpPr>
          <p:cNvPr id="33" name="Oval 32"/>
          <p:cNvSpPr/>
          <p:nvPr/>
        </p:nvSpPr>
        <p:spPr>
          <a:xfrm>
            <a:off x="4864608" y="2926080"/>
            <a:ext cx="274320" cy="274320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2889504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2E1B5B"/>
                </a:solidFill>
                <a:latin typeface="Calibri"/>
              </a:rPr>
              <a:t>Split cities into corridors </a:t>
            </a:r>
            <a:r>
              <a:rPr sz="1150" b="0" i="0">
                <a:solidFill>
                  <a:srgbClr val="2E1B5B"/>
                </a:solidFill>
                <a:latin typeface="Calibri"/>
              </a:rPr>
              <a:t>that fit on one device.</a:t>
            </a:r>
          </a:p>
        </p:txBody>
      </p:sp>
      <p:sp>
        <p:nvSpPr>
          <p:cNvPr id="35" name="Oval 34"/>
          <p:cNvSpPr/>
          <p:nvPr/>
        </p:nvSpPr>
        <p:spPr>
          <a:xfrm>
            <a:off x="4864608" y="3438144"/>
            <a:ext cx="274320" cy="274320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57800" y="3401568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2E1B5B"/>
                </a:solidFill>
                <a:latin typeface="Calibri"/>
              </a:rPr>
              <a:t>Real traffic data: </a:t>
            </a:r>
            <a:r>
              <a:rPr sz="1150" b="0" i="0">
                <a:solidFill>
                  <a:srgbClr val="2E1B5B"/>
                </a:solidFill>
                <a:latin typeface="Calibri"/>
              </a:rPr>
              <a:t>SUMO and live detector feeds.</a:t>
            </a:r>
          </a:p>
        </p:txBody>
      </p:sp>
      <p:sp>
        <p:nvSpPr>
          <p:cNvPr id="37" name="Oval 36"/>
          <p:cNvSpPr/>
          <p:nvPr/>
        </p:nvSpPr>
        <p:spPr>
          <a:xfrm>
            <a:off x="4864608" y="3950208"/>
            <a:ext cx="274320" cy="274320"/>
          </a:xfrm>
          <a:prstGeom prst="ellipse">
            <a:avLst/>
          </a:prstGeom>
          <a:solidFill>
            <a:srgbClr val="5B3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800" y="391363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2E1B5B"/>
                </a:solidFill>
                <a:latin typeface="Calibri"/>
              </a:rPr>
              <a:t>Richer model: </a:t>
            </a:r>
            <a:r>
              <a:rPr sz="1150" b="0" i="0">
                <a:solidFill>
                  <a:srgbClr val="2E1B5B"/>
                </a:solidFill>
                <a:latin typeface="Calibri"/>
              </a:rPr>
              <a:t>turning movements and pedestrians.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863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2E1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E863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F7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Inspiring Minds. Shaping Tomorrow.</a:t>
            </a:r>
            <a:endParaRPr lang="en-US" sz="1300" dirty="0"/>
          </a:p>
        </p:txBody>
      </p:sp>
      <p:sp>
        <p:nvSpPr>
          <p:cNvPr id="5" name="Field: GITHUB REPOSITORY"/>
          <p:cNvSpPr/>
          <p:nvPr/>
        </p:nvSpPr>
        <p:spPr>
          <a:xfrm>
            <a:off x="45720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 b="1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github.com/Harshithk00/Vhack</a:t>
            </a:r>
            <a:endParaRPr lang="en-US" sz="900" dirty="0"/>
          </a:p>
        </p:txBody>
      </p:sp>
      <p:sp>
        <p:nvSpPr>
          <p:cNvPr id="6" name="Field: DEMO VIDEO LINK"/>
          <p:cNvSpPr/>
          <p:nvPr/>
        </p:nvSpPr>
        <p:spPr>
          <a:xfrm>
            <a:off x="2834640" y="3291840"/>
            <a:ext cx="22860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B8BDEB"/>
            </a:solidFill>
          </a:ln>
        </p:spPr>
        <p:txBody>
          <a:bodyPr wrap="square" lIns="63500" tIns="114300" rIns="114300" bIns="38100" rtlCol="0" anchor="t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5B3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LINK</a:t>
            </a:r>
            <a:endParaRPr lang="en-US" sz="900" dirty="0"/>
          </a:p>
          <a:p>
            <a:pPr marL="0" indent="0" algn="l">
              <a:buNone/>
            </a:pPr>
            <a:r>
              <a:rPr lang="en-US" sz="1200" dirty="0" b="1">
                <a:solidFill>
                  <a:srgbClr val="2E1B5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/>
              </a:rPr>
              <a:t>vhack.harshithk.tech</a:t>
            </a:r>
            <a:endParaRPr lang="en-US" sz="900" dirty="0"/>
          </a:p>
        </p:txBody>
      </p:sp>
      <p:pic>
        <p:nvPicPr>
          <p:cNvPr id="7" name="Bloch sphere ring" descr="sp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3200400" cy="3200400"/>
          </a:xfrm>
          <a:prstGeom prst="rect">
            <a:avLst/>
          </a:prstGeom>
        </p:spPr>
      </p:pic>
      <p:pic>
        <p:nvPicPr>
          <p:cNvPr id="8" name="Image 1" descr="bir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14400"/>
            <a:ext cx="822960" cy="493776"/>
          </a:xfrm>
          <a:prstGeom prst="rect">
            <a:avLst/>
          </a:prstGeom>
        </p:spPr>
      </p:pic>
      <p:pic>
        <p:nvPicPr>
          <p:cNvPr id="9" name="Image 2" descr="bir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840480"/>
            <a:ext cx="548640" cy="329184"/>
          </a:xfrm>
          <a:prstGeom prst="rect">
            <a:avLst/>
          </a:prstGeom>
        </p:spPr>
      </p:pic>
      <p:pic>
        <p:nvPicPr>
          <p:cNvPr id="10" name="Image 3" descr="bir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023360"/>
            <a:ext cx="45720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393192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100" b="1" i="0">
                <a:solidFill>
                  <a:srgbClr val="5B3BA8"/>
                </a:solidFill>
                <a:latin typeface="Calibri"/>
              </a:rPr>
              <a:t>Live dashboard: </a:t>
            </a:r>
            <a:r>
              <a:rPr sz="1100" b="0" i="0">
                <a:solidFill>
                  <a:srgbClr val="E0558F"/>
                </a:solidFill>
                <a:latin typeface="Calibri"/>
                <a:hlinkClick r:id="rId9"/>
              </a:rPr>
              <a:t>qtraffic.harshithk.tech</a:t>
            </a:r>
          </a:p>
          <a:p>
            <a:pPr>
              <a:spcAft>
                <a:spcPts val="300"/>
              </a:spcAft>
            </a:pPr>
            <a:r>
              <a:rPr sz="1000" b="0" i="0">
                <a:solidFill>
                  <a:srgbClr val="6F7399"/>
                </a:solidFill>
                <a:latin typeface="Calibri"/>
              </a:rPr>
              <a:t>Team NULL POINTER · Harshit Kumar (Lead) · Himansu Rauniyar · Aditya Pattar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iskit Fall Fest">
  <a:themeElements>
    <a:clrScheme name="Qiskit Fall Fest">
      <a:dk1>
        <a:srgbClr val="2E1B5B"/>
      </a:dk1>
      <a:lt1>
        <a:srgbClr val="FFFFFF"/>
      </a:lt1>
      <a:dk2>
        <a:srgbClr val="4B2BA8"/>
      </a:dk2>
      <a:lt2>
        <a:srgbClr val="DDE2FC"/>
      </a:lt2>
      <a:accent1>
        <a:srgbClr val="E0558F"/>
      </a:accent1>
      <a:accent2>
        <a:srgbClr val="6B3FD4"/>
      </a:accent2>
      <a:accent3>
        <a:srgbClr val="F5C33B"/>
      </a:accent3>
      <a:accent4>
        <a:srgbClr val="3B82F6"/>
      </a:accent4>
      <a:accent5>
        <a:srgbClr val="7B58B8"/>
      </a:accent5>
      <a:accent6>
        <a:srgbClr val="2BB5A0"/>
      </a:accent6>
      <a:hlink>
        <a:srgbClr val="6B3FD4"/>
      </a:hlink>
      <a:folHlink>
        <a:srgbClr val="4B2BA8"/>
      </a:folHlink>
    </a:clrScheme>
    <a:fontScheme name="Qiskit Fall Fes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