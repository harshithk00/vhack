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11430000"/>
  <p:notesSz cx="11430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A9307CD1-69F0-9ECC-D4DC-AE5A89E5318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9530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473825" y="0"/>
            <a:ext cx="49530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FD828D-B99D-0C42-8E7E-10F831DE129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1263" y="857250"/>
            <a:ext cx="13874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43000" y="3300413"/>
            <a:ext cx="91440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9530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73825" y="6513513"/>
            <a:ext cx="49530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5CAA9-0E87-594E-BA5F-6A6DB4ECAA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441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_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365760" y="137160"/>
            <a:ext cx="6126480" cy="1508760"/>
          </a:xfrm>
          <a:prstGeom prst="roundRect">
            <a:avLst>
              <a:gd name="adj" fmla="val 15152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" name="LogoPill"/>
          <p:cNvSpPr/>
          <p:nvPr/>
        </p:nvSpPr>
        <p:spPr>
          <a:xfrm>
            <a:off x="502920" y="274320"/>
            <a:ext cx="228600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mage 0" descr="VTU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20040"/>
            <a:ext cx="365760" cy="365760"/>
          </a:xfrm>
          <a:prstGeom prst="rect">
            <a:avLst/>
          </a:prstGeom>
        </p:spPr>
      </p:pic>
      <p:pic>
        <p:nvPicPr>
          <p:cNvPr id="5" name="Image 1" descr="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20624"/>
            <a:ext cx="137160" cy="164592"/>
          </a:xfrm>
          <a:prstGeom prst="rect">
            <a:avLst/>
          </a:prstGeom>
        </p:spPr>
      </p:pic>
      <p:pic>
        <p:nvPicPr>
          <p:cNvPr id="6" name="Image 2" descr="IBM Quantum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18011"/>
            <a:ext cx="1188720" cy="169817"/>
          </a:xfrm>
          <a:prstGeom prst="rect">
            <a:avLst/>
          </a:prstGeom>
        </p:spPr>
      </p:pic>
      <p:sp>
        <p:nvSpPr>
          <p:cNvPr id="7" name="QucPill"/>
          <p:cNvSpPr/>
          <p:nvPr/>
        </p:nvSpPr>
        <p:spPr>
          <a:xfrm>
            <a:off x="5440680" y="228600"/>
            <a:ext cx="914400" cy="5486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mage 3" descr="VTU Quantum Club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2257" y="301752"/>
            <a:ext cx="531245" cy="402336"/>
          </a:xfrm>
          <a:prstGeom prst="rect">
            <a:avLst/>
          </a:prstGeom>
        </p:spPr>
      </p:pic>
      <p:sp>
        <p:nvSpPr>
          <p:cNvPr id="9" name="PosterNoPill"/>
          <p:cNvSpPr/>
          <p:nvPr/>
        </p:nvSpPr>
        <p:spPr>
          <a:xfrm>
            <a:off x="3794760" y="365760"/>
            <a:ext cx="146304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osterNo"/>
          <p:cNvSpPr txBox="1"/>
          <p:nvPr/>
        </p:nvSpPr>
        <p:spPr>
          <a:xfrm>
            <a:off x="3794760" y="365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no: ____</a:t>
            </a:r>
            <a:endParaRPr lang="en-US" sz="900" dirty="0"/>
          </a:p>
        </p:txBody>
      </p:sp>
      <p:sp>
        <p:nvSpPr>
          <p:cNvPr id="11" name="Eyebrow"/>
          <p:cNvSpPr txBox="1"/>
          <p:nvPr/>
        </p:nvSpPr>
        <p:spPr>
          <a:xfrm>
            <a:off x="502920" y="86868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VTU HOSTS  ·  IBM QUANTUM PRESENTS</a:t>
            </a:r>
            <a:endParaRPr lang="en-US" sz="750" dirty="0"/>
          </a:p>
        </p:txBody>
      </p:sp>
      <p:sp>
        <p:nvSpPr>
          <p:cNvPr id="12" name="Title"/>
          <p:cNvSpPr txBox="1"/>
          <p:nvPr/>
        </p:nvSpPr>
        <p:spPr>
          <a:xfrm>
            <a:off x="502920" y="103327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Quantum-Assisted Traffic Signal Optimization Using QAOA</a:t>
            </a:r>
            <a:endParaRPr lang="en-US" sz="2400" dirty="0"/>
          </a:p>
        </p:txBody>
      </p:sp>
      <p:sp>
        <p:nvSpPr>
          <p:cNvPr id="13" name="Presenter"/>
          <p:cNvSpPr txBox="1"/>
          <p:nvPr/>
        </p:nvSpPr>
        <p:spPr>
          <a:xfrm>
            <a:off x="502920" y="141732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90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Track</a:t>
            </a: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90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NULL POINTER</a:t>
            </a:r>
            <a:r>
              <a:rPr lang="en-US" sz="9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Harshit Kumar (Lead), Himansu Rauniyar, Aditya Pattar  |  CSE, SIT Tumkur</a:t>
            </a:r>
            <a:endParaRPr lang="en-US" sz="900" dirty="0"/>
          </a:p>
        </p:txBody>
      </p:sp>
      <p:sp>
        <p:nvSpPr>
          <p:cNvPr id="14" name="FooterBg"/>
          <p:cNvSpPr/>
          <p:nvPr/>
        </p:nvSpPr>
        <p:spPr>
          <a:xfrm>
            <a:off x="365760" y="10972800"/>
            <a:ext cx="6126480" cy="34747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5" name="FooterLeft"/>
          <p:cNvSpPr txBox="1"/>
          <p:nvPr/>
        </p:nvSpPr>
        <p:spPr>
          <a:xfrm>
            <a:off x="594360" y="10972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</a:t>
            </a:r>
            <a:endParaRPr lang="en-US" sz="900" dirty="0"/>
          </a:p>
        </p:txBody>
      </p:sp>
      <p:sp>
        <p:nvSpPr>
          <p:cNvPr id="16" name="FooterMid"/>
          <p:cNvSpPr txBox="1"/>
          <p:nvPr/>
        </p:nvSpPr>
        <p:spPr>
          <a:xfrm>
            <a:off x="2651760" y="10972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Fall Fest 2026</a:t>
            </a:r>
            <a:endParaRPr lang="en-US" sz="900" dirty="0"/>
          </a:p>
        </p:txBody>
      </p:sp>
      <p:sp>
        <p:nvSpPr>
          <p:cNvPr id="17" name="FooterRight"/>
          <p:cNvSpPr txBox="1"/>
          <p:nvPr/>
        </p:nvSpPr>
        <p:spPr>
          <a:xfrm>
            <a:off x="4709160" y="10972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Presentation</a:t>
            </a:r>
            <a:endParaRPr lang="en-US" sz="900" dirty="0"/>
          </a:p>
        </p:txBody>
      </p:sp>
      <p:sp>
        <p:nvSpPr>
          <p:cNvPr id="18" name="IntroCard"/>
          <p:cNvSpPr/>
          <p:nvPr/>
        </p:nvSpPr>
        <p:spPr>
          <a:xfrm>
            <a:off x="365760" y="1737360"/>
            <a:ext cx="612648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9" name="IntroChip"/>
          <p:cNvSpPr/>
          <p:nvPr/>
        </p:nvSpPr>
        <p:spPr>
          <a:xfrm>
            <a:off x="457200" y="1828800"/>
            <a:ext cx="5943600" cy="2468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IntroHeading"/>
          <p:cNvSpPr txBox="1"/>
          <p:nvPr/>
        </p:nvSpPr>
        <p:spPr>
          <a:xfrm>
            <a:off x="594360" y="1828800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950" dirty="0"/>
          </a:p>
        </p:txBody>
      </p:sp>
      <p:sp>
        <p:nvSpPr>
          <p:cNvPr id="21" name="IntroBody"/>
          <p:cNvSpPr txBox="1"/>
          <p:nvPr/>
        </p:nvSpPr>
        <p:spPr>
          <a:xfrm>
            <a:off x="530352" y="2167128"/>
            <a:ext cx="57972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</a:t>
            </a:r>
            <a:r>
              <a:rPr lang="en-US" sz="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wastes time, fuel and clean air, yet most city signals still run fixed timers that ignore real queues.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</a:t>
            </a:r>
            <a:r>
              <a:rPr lang="en-US" sz="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N signals over T slots is combinatorial: there are 2</a:t>
            </a:r>
            <a:r>
              <a:rPr lang="en-US" sz="900" dirty="0" baseline="300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N·T</a:t>
            </a:r>
            <a:r>
              <a:rPr lang="en-US" sz="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possible plans, re-decided every 30 s.</a:t>
            </a:r>
            <a:endParaRPr lang="en-US" sz="9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0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signal timing with QAOA in Qiskit and test it as a live controller against classical methods.</a:t>
            </a:r>
            <a:endParaRPr lang="en-US" sz="900" dirty="0"/>
          </a:p>
        </p:txBody>
      </p:sp>
      <p:sp>
        <p:nvSpPr>
          <p:cNvPr id="22" name="GapCard"/>
          <p:cNvSpPr/>
          <p:nvPr/>
        </p:nvSpPr>
        <p:spPr>
          <a:xfrm>
            <a:off x="365760" y="2926080"/>
            <a:ext cx="30175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3" name="GapChip"/>
          <p:cNvSpPr/>
          <p:nvPr/>
        </p:nvSpPr>
        <p:spPr>
          <a:xfrm>
            <a:off x="457200" y="301752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4" name="GapHeading"/>
          <p:cNvSpPr txBox="1"/>
          <p:nvPr/>
        </p:nvSpPr>
        <p:spPr>
          <a:xfrm>
            <a:off x="594360" y="301752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/ Existing Challenges</a:t>
            </a:r>
            <a:endParaRPr lang="en-US" sz="950" dirty="0"/>
          </a:p>
        </p:txBody>
      </p:sp>
      <p:sp>
        <p:nvSpPr>
          <p:cNvPr id="25" name="GapBody"/>
          <p:cNvSpPr txBox="1"/>
          <p:nvPr/>
        </p:nvSpPr>
        <p:spPr>
          <a:xfrm>
            <a:off x="530352" y="3355848"/>
            <a:ext cx="2688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Today's signals optimise each junction alone.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Quantum traffic work targets routing [3, 4].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QAOA is rarely tested as a live controller.</a:t>
            </a:r>
            <a:endParaRPr lang="en-US" sz="850" dirty="0"/>
          </a:p>
        </p:txBody>
      </p:sp>
      <p:sp>
        <p:nvSpPr>
          <p:cNvPr id="26" name="ArchCard"/>
          <p:cNvSpPr/>
          <p:nvPr/>
        </p:nvSpPr>
        <p:spPr>
          <a:xfrm>
            <a:off x="365760" y="4114800"/>
            <a:ext cx="30175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7" name="ArchChip"/>
          <p:cNvSpPr/>
          <p:nvPr/>
        </p:nvSpPr>
        <p:spPr>
          <a:xfrm>
            <a:off x="457200" y="420624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8" name="ArchHeading"/>
          <p:cNvSpPr txBox="1"/>
          <p:nvPr/>
        </p:nvSpPr>
        <p:spPr>
          <a:xfrm>
            <a:off x="594360" y="42062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/ Implementation</a:t>
            </a:r>
            <a:endParaRPr lang="en-US" sz="950" dirty="0"/>
          </a:p>
        </p:txBody>
      </p:sp>
      <p:sp>
        <p:nvSpPr>
          <p:cNvPr id="29" name="ArchBody"/>
          <p:cNvSpPr txBox="1"/>
          <p:nvPr/>
        </p:nvSpPr>
        <p:spPr>
          <a:xfrm>
            <a:off x="530352" y="4544568"/>
            <a:ext cx="268833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850" dirty="0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Circuit: </a:t>
            </a: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→ RZ/RZZ cost → RX mixer, × p layers.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850" dirty="0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</a:t>
            </a: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4–16 qubits, p = 1–4; 8 qubits at p = 2: 80 CNOTs, depth 75.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850" dirty="0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2.x, Aer noise model, COBYLA + INTERP [2].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850" dirty="0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Readout: </a:t>
            </a: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shots → cheapest plan applied.</a:t>
            </a:r>
            <a:endParaRPr lang="en-US" sz="850" dirty="0"/>
          </a:p>
        </p:txBody>
      </p:sp>
      <p:sp>
        <p:nvSpPr>
          <p:cNvPr id="30" name="TheoryCard"/>
          <p:cNvSpPr/>
          <p:nvPr/>
        </p:nvSpPr>
        <p:spPr>
          <a:xfrm>
            <a:off x="365760" y="5669280"/>
            <a:ext cx="301752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31" name="TheoryChip"/>
          <p:cNvSpPr/>
          <p:nvPr/>
        </p:nvSpPr>
        <p:spPr>
          <a:xfrm>
            <a:off x="457200" y="576072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32" name="TheoryHeading"/>
          <p:cNvSpPr txBox="1"/>
          <p:nvPr/>
        </p:nvSpPr>
        <p:spPr>
          <a:xfrm>
            <a:off x="594360" y="576072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Model / Algorithm</a:t>
            </a:r>
            <a:endParaRPr lang="en-US" sz="950" dirty="0"/>
          </a:p>
        </p:txBody>
      </p:sp>
      <p:sp>
        <p:nvSpPr>
          <p:cNvPr id="33" name="TheoryBody"/>
          <p:cNvSpPr txBox="1"/>
          <p:nvPr/>
        </p:nvSpPr>
        <p:spPr>
          <a:xfrm>
            <a:off x="530352" y="6099048"/>
            <a:ext cx="26883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50"/>
              </a:spcAft>
              <a:buNone/>
            </a:pPr>
            <a:r>
              <a:rPr lang="en-US" sz="8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cost: </a:t>
            </a:r>
            <a:r>
              <a:rPr lang="en-US" sz="850" dirty="0" i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E(x) = Σ</a:t>
            </a:r>
            <a:r>
              <a:rPr lang="en-US" sz="850" dirty="0" i="1" baseline="-2500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i,t</a:t>
            </a:r>
            <a:r>
              <a:rPr lang="en-US" sz="850" dirty="0" i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(Q²</a:t>
            </a:r>
            <a:r>
              <a:rPr lang="en-US" sz="850" dirty="0" i="1" baseline="-2500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r>
              <a:rPr lang="en-US" sz="850" dirty="0" i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Q²</a:t>
            </a:r>
            <a:r>
              <a:rPr lang="en-US" sz="850" dirty="0" i="1" baseline="-2500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</a:t>
            </a:r>
            <a:r>
              <a:rPr lang="en-US" sz="850" dirty="0" i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+ w · switches</a:t>
            </a:r>
            <a:endParaRPr lang="en-US" sz="8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8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Ising Hamiltonian (x = (1−Z)/2): </a:t>
            </a:r>
            <a:endParaRPr lang="en-US" sz="8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850" dirty="0" i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Σ h</a:t>
            </a:r>
            <a:r>
              <a:rPr lang="en-US" sz="850" dirty="0" i="1" baseline="-2500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850" dirty="0" i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</a:t>
            </a:r>
            <a:r>
              <a:rPr lang="en-US" sz="850" dirty="0" i="1" baseline="-2500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850" dirty="0" i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Σ J</a:t>
            </a:r>
            <a:r>
              <a:rPr lang="en-US" sz="850" dirty="0" i="1" baseline="-2500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</a:t>
            </a:r>
            <a:r>
              <a:rPr lang="en-US" sz="850" dirty="0" i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</a:t>
            </a:r>
            <a:r>
              <a:rPr lang="en-US" sz="850" dirty="0" i="1" baseline="-2500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850" dirty="0" i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r>
              <a:rPr lang="en-US" sz="850" dirty="0" i="1" baseline="-2500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8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8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state (p layers): </a:t>
            </a:r>
            <a:r>
              <a:rPr lang="en-US" sz="850" dirty="0" i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|γ,β⟩ = Π e</a:t>
            </a:r>
            <a:r>
              <a:rPr lang="en-US" sz="850" dirty="0" i="1" baseline="3000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−iβΣX</a:t>
            </a:r>
            <a:r>
              <a:rPr lang="en-US" sz="850" dirty="0" i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</a:t>
            </a:r>
            <a:r>
              <a:rPr lang="en-US" sz="850" dirty="0" i="1" baseline="3000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−iγH</a:t>
            </a:r>
            <a:r>
              <a:rPr lang="en-US" sz="850" dirty="0" i="1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|+⟩</a:t>
            </a:r>
            <a:r>
              <a:rPr lang="en-US" sz="850" dirty="0" i="1" baseline="3000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⊗n</a:t>
            </a:r>
            <a:endParaRPr lang="en-US" sz="850" dirty="0"/>
          </a:p>
          <a:p>
            <a:pPr marL="0" indent="0">
              <a:spcAft>
                <a:spcPts val="250"/>
              </a:spcAft>
              <a:buNone/>
            </a:pP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queues couple neighbours, so green waves emerge.</a:t>
            </a:r>
            <a:endParaRPr lang="en-US" sz="850" dirty="0"/>
          </a:p>
        </p:txBody>
      </p:sp>
      <p:sp>
        <p:nvSpPr>
          <p:cNvPr id="34" name="ResultsCard"/>
          <p:cNvSpPr/>
          <p:nvPr/>
        </p:nvSpPr>
        <p:spPr>
          <a:xfrm>
            <a:off x="365760" y="7863840"/>
            <a:ext cx="301752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35" name="ResultsChip"/>
          <p:cNvSpPr/>
          <p:nvPr/>
        </p:nvSpPr>
        <p:spPr>
          <a:xfrm>
            <a:off x="457200" y="795528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6" name="ResultsHeading"/>
          <p:cNvSpPr txBox="1"/>
          <p:nvPr/>
        </p:nvSpPr>
        <p:spPr>
          <a:xfrm>
            <a:off x="594360" y="79552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950" dirty="0"/>
          </a:p>
        </p:txBody>
      </p:sp>
      <p:sp>
        <p:nvSpPr>
          <p:cNvPr id="37" name="ResultsFigure"/>
          <p:cNvSpPr/>
          <p:nvPr/>
        </p:nvSpPr>
        <p:spPr>
          <a:xfrm>
            <a:off x="530352" y="8293608"/>
            <a:ext cx="2688336" cy="2221992"/>
          </a:xfrm>
          <a:prstGeom prst="roundRect">
            <a:avLst>
              <a:gd name="adj" fmla="val 3292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9" name="ResultsCaption"/>
          <p:cNvSpPr txBox="1"/>
          <p:nvPr/>
        </p:nvSpPr>
        <p:spPr>
          <a:xfrm>
            <a:off x="530352" y="1058875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1: (a) Avg. wait, 3 seeds; (b) QAOA quality vs depth p.</a:t>
            </a:r>
            <a:endParaRPr lang="en-US" sz="800" dirty="0"/>
          </a:p>
        </p:txBody>
      </p:sp>
      <p:sp>
        <p:nvSpPr>
          <p:cNvPr id="40" name="MethodCard"/>
          <p:cNvSpPr/>
          <p:nvPr/>
        </p:nvSpPr>
        <p:spPr>
          <a:xfrm>
            <a:off x="3474720" y="2926080"/>
            <a:ext cx="301752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41" name="MethodChip"/>
          <p:cNvSpPr/>
          <p:nvPr/>
        </p:nvSpPr>
        <p:spPr>
          <a:xfrm>
            <a:off x="3566160" y="301752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2" name="MethodHeading"/>
          <p:cNvSpPr txBox="1"/>
          <p:nvPr/>
        </p:nvSpPr>
        <p:spPr>
          <a:xfrm>
            <a:off x="3703320" y="301752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/ Framework</a:t>
            </a:r>
            <a:endParaRPr lang="en-US" sz="950" dirty="0"/>
          </a:p>
        </p:txBody>
      </p:sp>
      <p:sp>
        <p:nvSpPr>
          <p:cNvPr id="43" name="MethodBody"/>
          <p:cNvSpPr txBox="1"/>
          <p:nvPr/>
        </p:nvSpPr>
        <p:spPr>
          <a:xfrm>
            <a:off x="3639312" y="3355848"/>
            <a:ext cx="268833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80"/>
              </a:spcAft>
              <a:buNone/>
            </a:pPr>
            <a:r>
              <a:rPr lang="en-US" sz="850" dirty="0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Receding-horizon control loop, every 30 s:</a:t>
            </a:r>
            <a:endParaRPr lang="en-US" sz="85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8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Encode: one qubit per signal per slot (x = 1 → E–W green).</a:t>
            </a:r>
            <a:endParaRPr lang="en-US" sz="85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8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queues for T slots, linear in x; build the QUBO.</a:t>
            </a:r>
            <a:endParaRPr lang="en-US" sz="85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8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Ising H</a:t>
            </a:r>
            <a:r>
              <a:rPr lang="en-US" sz="850" dirty="0" baseline="-250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train QAOA angles γ, β with COBYLA.</a:t>
            </a:r>
            <a:endParaRPr lang="en-US" sz="85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8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1024 shots; apply the cheapest plan for 30 s.</a:t>
            </a:r>
            <a:endParaRPr lang="en-US" sz="85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8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 with live queues, warm-starting the angles.</a:t>
            </a:r>
            <a:endParaRPr lang="en-US" sz="85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8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Baselines: fixed-time, actuated, simulated annealing, exact.</a:t>
            </a:r>
            <a:endParaRPr lang="en-US" sz="850" dirty="0"/>
          </a:p>
        </p:txBody>
      </p:sp>
      <p:sp>
        <p:nvSpPr>
          <p:cNvPr id="44" name="AppsCard"/>
          <p:cNvSpPr/>
          <p:nvPr/>
        </p:nvSpPr>
        <p:spPr>
          <a:xfrm>
            <a:off x="3474720" y="4846320"/>
            <a:ext cx="30175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45" name="AppsChip"/>
          <p:cNvSpPr/>
          <p:nvPr/>
        </p:nvSpPr>
        <p:spPr>
          <a:xfrm>
            <a:off x="3566160" y="493776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6" name="AppsHeading"/>
          <p:cNvSpPr txBox="1"/>
          <p:nvPr/>
        </p:nvSpPr>
        <p:spPr>
          <a:xfrm>
            <a:off x="3703320" y="49377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/ Use Cases</a:t>
            </a:r>
            <a:endParaRPr lang="en-US" sz="950" dirty="0"/>
          </a:p>
        </p:txBody>
      </p:sp>
      <p:sp>
        <p:nvSpPr>
          <p:cNvPr id="47" name="AppsBody"/>
          <p:cNvSpPr txBox="1"/>
          <p:nvPr/>
        </p:nvSpPr>
        <p:spPr>
          <a:xfrm>
            <a:off x="3639312" y="5276088"/>
            <a:ext cx="19019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Adaptive signals for smart-city corridors.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 and emergency traffic surges.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real-world QUBO benchmark for QAOA on IBM Quantum.</a:t>
            </a:r>
            <a:endParaRPr lang="en-US" sz="850" dirty="0"/>
          </a:p>
        </p:txBody>
      </p:sp>
      <p:sp>
        <p:nvSpPr>
          <p:cNvPr id="48" name="ConclCard"/>
          <p:cNvSpPr/>
          <p:nvPr/>
        </p:nvSpPr>
        <p:spPr>
          <a:xfrm>
            <a:off x="3474720" y="6263640"/>
            <a:ext cx="301752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49" name="ConclChip"/>
          <p:cNvSpPr/>
          <p:nvPr/>
        </p:nvSpPr>
        <p:spPr>
          <a:xfrm>
            <a:off x="3566160" y="635508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0" name="ConclHeading"/>
          <p:cNvSpPr txBox="1"/>
          <p:nvPr/>
        </p:nvSpPr>
        <p:spPr>
          <a:xfrm>
            <a:off x="3703320" y="63550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Contributions</a:t>
            </a:r>
            <a:endParaRPr lang="en-US" sz="950" dirty="0"/>
          </a:p>
        </p:txBody>
      </p:sp>
      <p:sp>
        <p:nvSpPr>
          <p:cNvPr id="51" name="ConclBody"/>
          <p:cNvSpPr txBox="1"/>
          <p:nvPr/>
        </p:nvSpPr>
        <p:spPr>
          <a:xfrm>
            <a:off x="3639312" y="6693408"/>
            <a:ext cx="26883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80"/>
              </a:spcAft>
              <a:buNone/>
            </a:pPr>
            <a:r>
              <a:rPr lang="en-US" sz="8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found the optimum on every instance ≤ 12 qubits.</a:t>
            </a:r>
            <a:endParaRPr lang="en-US" sz="85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8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8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−64% </a:t>
            </a: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vs fixed timers at rush hour (83.5 → 30.2 s).</a:t>
            </a:r>
            <a:endParaRPr lang="en-US" sz="85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8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even at 1% gate noise; quality 0.85 → 0.93.</a:t>
            </a:r>
            <a:endParaRPr lang="en-US" sz="850" dirty="0"/>
          </a:p>
          <a:p>
            <a:pPr marL="0" indent="0">
              <a:spcAft>
                <a:spcPts val="180"/>
              </a:spcAft>
              <a:buNone/>
            </a:pPr>
            <a:r>
              <a:rPr lang="en-US" sz="8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limit: classical solvers are still faster at this size.</a:t>
            </a:r>
            <a:endParaRPr lang="en-US" sz="850" dirty="0"/>
          </a:p>
        </p:txBody>
      </p:sp>
      <p:sp>
        <p:nvSpPr>
          <p:cNvPr id="52" name="FutureCard"/>
          <p:cNvSpPr/>
          <p:nvPr/>
        </p:nvSpPr>
        <p:spPr>
          <a:xfrm>
            <a:off x="3474720" y="7726680"/>
            <a:ext cx="30175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53" name="FutureChip"/>
          <p:cNvSpPr/>
          <p:nvPr/>
        </p:nvSpPr>
        <p:spPr>
          <a:xfrm>
            <a:off x="3566160" y="781812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54" name="FutureHeading"/>
          <p:cNvSpPr txBox="1"/>
          <p:nvPr/>
        </p:nvSpPr>
        <p:spPr>
          <a:xfrm>
            <a:off x="3703320" y="781812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50" dirty="0"/>
          </a:p>
        </p:txBody>
      </p:sp>
      <p:sp>
        <p:nvSpPr>
          <p:cNvPr id="55" name="FutureBody"/>
          <p:cNvSpPr txBox="1"/>
          <p:nvPr/>
        </p:nvSpPr>
        <p:spPr>
          <a:xfrm>
            <a:off x="3639312" y="8156448"/>
            <a:ext cx="26883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8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IBM Quantum hardware via Qiskit Runtime.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cities into corridors that fit one device.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data: SUMO and live detector feeds.</a:t>
            </a:r>
            <a:endParaRPr lang="en-US" sz="850" dirty="0"/>
          </a:p>
        </p:txBody>
      </p:sp>
      <p:sp>
        <p:nvSpPr>
          <p:cNvPr id="56" name="AckCard"/>
          <p:cNvSpPr/>
          <p:nvPr/>
        </p:nvSpPr>
        <p:spPr>
          <a:xfrm>
            <a:off x="3474720" y="8915400"/>
            <a:ext cx="301752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57" name="AckChip"/>
          <p:cNvSpPr/>
          <p:nvPr/>
        </p:nvSpPr>
        <p:spPr>
          <a:xfrm>
            <a:off x="3566160" y="900684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58" name="AckHeading"/>
          <p:cNvSpPr txBox="1"/>
          <p:nvPr/>
        </p:nvSpPr>
        <p:spPr>
          <a:xfrm>
            <a:off x="3703320" y="90068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</a:t>
            </a:r>
            <a:endParaRPr lang="en-US" sz="950" dirty="0"/>
          </a:p>
        </p:txBody>
      </p:sp>
      <p:sp>
        <p:nvSpPr>
          <p:cNvPr id="59" name="AckBody"/>
          <p:cNvSpPr txBox="1"/>
          <p:nvPr/>
        </p:nvSpPr>
        <p:spPr>
          <a:xfrm>
            <a:off x="3639312" y="9345168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thank Visvesvaraya Technological University, IBM Quantum, the Qiskit community and the Dept. of CSE, SIT Tumkur.</a:t>
            </a:r>
            <a:endParaRPr lang="en-US" sz="850" dirty="0"/>
          </a:p>
        </p:txBody>
      </p:sp>
      <p:sp>
        <p:nvSpPr>
          <p:cNvPr id="60" name="RefsCard"/>
          <p:cNvSpPr/>
          <p:nvPr/>
        </p:nvSpPr>
        <p:spPr>
          <a:xfrm>
            <a:off x="3474720" y="9875520"/>
            <a:ext cx="301752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61" name="RefsChip"/>
          <p:cNvSpPr/>
          <p:nvPr/>
        </p:nvSpPr>
        <p:spPr>
          <a:xfrm>
            <a:off x="3566160" y="9966960"/>
            <a:ext cx="2834640" cy="2468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62" name="RefsHeading"/>
          <p:cNvSpPr txBox="1"/>
          <p:nvPr/>
        </p:nvSpPr>
        <p:spPr>
          <a:xfrm>
            <a:off x="3703320" y="996696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63" name="RefsBody"/>
          <p:cNvSpPr txBox="1"/>
          <p:nvPr/>
        </p:nvSpPr>
        <p:spPr>
          <a:xfrm>
            <a:off x="3639312" y="10305288"/>
            <a:ext cx="26883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en-US" sz="7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E. Farhi, J. Goldstone, S. Gutmann, arXiv:1411.4028 (2014).</a:t>
            </a:r>
            <a:endParaRPr lang="en-US" sz="750" dirty="0"/>
          </a:p>
          <a:p>
            <a:pPr marL="0" indent="0">
              <a:spcAft>
                <a:spcPts val="0"/>
              </a:spcAft>
              <a:buNone/>
            </a:pPr>
            <a:r>
              <a:rPr lang="en-US" sz="7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L. Zhou et al., Phys. Rev. X 10, 021067 (2020).</a:t>
            </a:r>
            <a:endParaRPr lang="en-US" sz="750" dirty="0"/>
          </a:p>
          <a:p>
            <a:pPr marL="0" indent="0">
              <a:spcAft>
                <a:spcPts val="0"/>
              </a:spcAft>
              <a:buNone/>
            </a:pPr>
            <a:r>
              <a:rPr lang="en-US" sz="7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F. Neukart et al., Front. ICT 4, 29 (2017).</a:t>
            </a:r>
            <a:endParaRPr lang="en-US" sz="750" dirty="0"/>
          </a:p>
          <a:p>
            <a:pPr marL="0" indent="0">
              <a:spcAft>
                <a:spcPts val="0"/>
              </a:spcAft>
              <a:buNone/>
            </a:pPr>
            <a:r>
              <a:rPr lang="en-US" sz="7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Hybrid QAOA for traffic congestion, arXiv:2504.08275 (2025).</a:t>
            </a:r>
            <a:endParaRPr lang="en-US" sz="750" dirty="0"/>
          </a:p>
        </p:txBody>
      </p:sp>
      <p:pic>
        <p:nvPicPr>
          <p:cNvPr id="64" name="QAOA circuit figure" descr="fig_circu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436" y="6967728"/>
            <a:ext cx="2744167" cy="749808"/>
          </a:xfrm>
          <a:prstGeom prst="rect">
            <a:avLst/>
          </a:prstGeom>
        </p:spPr>
      </p:pic>
      <p:pic>
        <p:nvPicPr>
          <p:cNvPr id="65" name="Results figure" descr="fig_resul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416" y="8321040"/>
            <a:ext cx="2522207" cy="2167128"/>
          </a:xfrm>
          <a:prstGeom prst="rect">
            <a:avLst/>
          </a:prstGeom>
        </p:spPr>
      </p:pic>
      <p:pic>
        <p:nvPicPr>
          <p:cNvPr id="66" name="QR code to demo" descr="q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0" y="5248656"/>
            <a:ext cx="658368" cy="658368"/>
          </a:xfrm>
          <a:prstGeom prst="rect">
            <a:avLst/>
          </a:prstGeom>
        </p:spPr>
      </p:pic>
      <p:sp>
        <p:nvSpPr>
          <p:cNvPr id="67" name="QR label"/>
          <p:cNvSpPr txBox="1"/>
          <p:nvPr/>
        </p:nvSpPr>
        <p:spPr>
          <a:xfrm>
            <a:off x="5504688" y="5916168"/>
            <a:ext cx="987552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650" dirty="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+ live app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iskit Fall Fest VTU">
  <a:themeElements>
    <a:clrScheme name="Qiskit Fall Fest VTU">
      <a:dk1>
        <a:srgbClr val="2A1A38"/>
      </a:dk1>
      <a:lt1>
        <a:srgbClr val="FFFFFF"/>
      </a:lt1>
      <a:dk2>
        <a:srgbClr val="3C264C"/>
      </a:dk2>
      <a:lt2>
        <a:srgbClr val="FEF9F3"/>
      </a:lt2>
      <a:accent1>
        <a:srgbClr val="E85291"/>
      </a:accent1>
      <a:accent2>
        <a:srgbClr val="F5A4C4"/>
      </a:accent2>
      <a:accent3>
        <a:srgbClr val="B9A6DD"/>
      </a:accent3>
      <a:accent4>
        <a:srgbClr val="F4C84F"/>
      </a:accent4>
      <a:accent5>
        <a:srgbClr val="DDD2FA"/>
      </a:accent5>
      <a:accent6>
        <a:srgbClr val="7A5CB8"/>
      </a:accent6>
      <a:hlink>
        <a:srgbClr val="E85291"/>
      </a:hlink>
      <a:folHlink>
        <a:srgbClr val="7A5CB8"/>
      </a:folHlink>
    </a:clrScheme>
    <a:fontScheme name="Qiskit Fall Fest VT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Qiskit Fall Fest VTU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Qiskit Fall Fest 2026 – VTU Poster</dc:title>
  <dc:subject>PptxGenJS Presentation</dc:subject>
  <dc:creator>PptxGenJS</dc:creator>
  <cp:lastModifiedBy>User Onlinedata</cp:lastModifiedBy>
  <cp:revision>2</cp:revision>
  <dcterms:created xsi:type="dcterms:W3CDTF">2026-10-11T07:41:04Z</dcterms:created>
  <dcterms:modified xsi:type="dcterms:W3CDTF">2026-10-11T07:47:31Z</dcterms:modified>
</cp:coreProperties>
</file>