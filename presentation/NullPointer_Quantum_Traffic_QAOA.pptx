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id="{dadd7ca3-2aab-2bc2-3a49-91a944b7d48f}">
          <p14:sldIdLst>
            <p14:sldId id="256"/>
          </p14:sldIdLst>
        </p14:section>
        <p14:section name="Quantum solution" id="{cc06b15d-ccbf-3465-a02a-910ec5bcb4f3}">
          <p14:sldIdLst>
            <p14:sldId id="257"/>
          </p14:sldIdLst>
        </p14:section>
        <p14:section name="Circuit" id="{d06c723b-c1af-49d7-11c0-982254389181}">
          <p14:sldIdLst>
            <p14:sldId id="258"/>
          </p14:sldIdLst>
        </p14:section>
        <p14:section name="Results" id="{50acb0f7-9def-be4e-5e7c-74b0873f9578}">
          <p14:sldIdLst>
            <p14:sldId id="259"/>
          </p14:sldIdLst>
        </p14:section>
        <p14:section name="Next steps" id="{a6ab11d1-d07b-a9fa-2d48-af598a5936f3}">
          <p14:sldIdLst>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E1330"/>
                </a:solidFill>
                <a:latin typeface="+mn-lt"/>
              </a:defRPr>
            </a:pPr>
            <a:r>
              <a:rPr sz="1400" b="0" i="0" u="none" strike="noStrike">
                <a:solidFill>
                  <a:srgbClr val="0E1330"/>
                </a:solidFill>
                <a:latin typeface="+mn-lt"/>
              </a:rPr>
              <a:t>Average wait per vehicle (s), 2×2 grid</a:t>
            </a:r>
          </a:p>
        </c:rich>
      </c:tx>
      <c:layout/>
      <c:overlay val="0"/>
    </c:title>
    <c:autoTitleDeleted val="0"/>
    <c:plotArea>
      <c:layout/>
      <c:barChart>
        <c:barDir val="col"/>
        <c:grouping val="clustered"/>
        <c:varyColors val="0"/>
        <c:ser>
          <c:idx val="0"/>
          <c:order val="0"/>
          <c:tx>
            <c:strRef>
              <c:f>Sheet1!$B$1</c:f>
              <c:strCache>
                <c:ptCount val="1"/>
                <c:pt idx="0">
                  <c:v>Fixed-time</c:v>
                </c:pt>
              </c:strCache>
            </c:strRef>
          </c:tx>
          <c:spPr>
            <a:solidFill>
              <a:srgbClr val="9AA4B2"/>
            </a:solidFill>
            <a:effectLst/>
          </c:spPr>
          <c:invertIfNegative val="0"/>
          <c:dLbls>
            <c:numFmt formatCode="0" sourceLinked="0"/>
            <c:txPr>
              <a:bodyPr/>
              <a:lstStyle/>
              <a:p>
                <a:pPr>
                  <a:defRPr b="0" i="0" strike="noStrike" sz="1000" u="none">
                    <a:solidFill>
                      <a:srgbClr val="4B5165"/>
                    </a:solidFill>
                    <a:latin typeface="+mn-lt"/>
                  </a:defRPr>
                </a:pPr>
              </a:p>
            </c:txPr>
            <c:showLegendKey val="0"/>
            <c:showVal val="1"/>
            <c:showCatName val="0"/>
            <c:showSerName val="0"/>
            <c:showPercent val="0"/>
            <c:showBubbleSize val="0"/>
            <c:showLeaderLines val="0"/>
          </c:dLbls>
          <c:cat>
            <c:multiLvlStrRef>
              <c:f>Sheet1!$A$2:$A$5</c:f>
              <c:multiLvlStrCache>
                <c:ptCount val="4"/>
                <c:lvl>
                  <c:pt idx="0">
                    <c:v>Off-peak</c:v>
                  </c:pt>
                  <c:pt idx="1">
                    <c:v>Rush hour</c:v>
                  </c:pt>
                  <c:pt idx="2">
                    <c:v>Event surge</c:v>
                  </c:pt>
                  <c:pt idx="3">
                    <c:v>Random</c:v>
                  </c:pt>
                </c:lvl>
              </c:multiLvlStrCache>
            </c:multiLvlStrRef>
          </c:cat>
          <c:val>
            <c:numRef>
              <c:f>Sheet1!$B$2:$B$5</c:f>
              <c:numCache>
                <c:formatCode>General</c:formatCode>
                <c:ptCount val="4"/>
                <c:pt idx="0">
                  <c:v>21.3</c:v>
                </c:pt>
                <c:pt idx="1">
                  <c:v>83.5</c:v>
                </c:pt>
                <c:pt idx="2">
                  <c:v>86.2</c:v>
                </c:pt>
                <c:pt idx="3">
                  <c:v>24.4</c:v>
                </c:pt>
              </c:numCache>
            </c:numRef>
          </c:val>
        </c:ser>
        <c:ser>
          <c:idx val="1"/>
          <c:order val="1"/>
          <c:tx>
            <c:strRef>
              <c:f>Sheet1!$C$1</c:f>
              <c:strCache>
                <c:ptCount val="1"/>
                <c:pt idx="0">
                  <c:v>Actuated (max-queue)</c:v>
                </c:pt>
              </c:strCache>
            </c:strRef>
          </c:tx>
          <c:spPr>
            <a:solidFill>
              <a:srgbClr val="F5A524"/>
            </a:solidFill>
            <a:effectLst/>
          </c:spPr>
          <c:invertIfNegative val="0"/>
          <c:dLbls>
            <c:numFmt formatCode="0" sourceLinked="0"/>
            <c:txPr>
              <a:bodyPr/>
              <a:lstStyle/>
              <a:p>
                <a:pPr>
                  <a:defRPr b="0" i="0" strike="noStrike" sz="1000" u="none">
                    <a:solidFill>
                      <a:srgbClr val="4B5165"/>
                    </a:solidFill>
                    <a:latin typeface="+mn-lt"/>
                  </a:defRPr>
                </a:pPr>
              </a:p>
            </c:txPr>
            <c:showLegendKey val="0"/>
            <c:showVal val="1"/>
            <c:showCatName val="0"/>
            <c:showSerName val="0"/>
            <c:showPercent val="0"/>
            <c:showBubbleSize val="0"/>
            <c:showLeaderLines val="0"/>
          </c:dLbls>
          <c:cat>
            <c:multiLvlStrRef>
              <c:f>Sheet1!$A$2:$A$5</c:f>
              <c:multiLvlStrCache>
                <c:ptCount val="4"/>
                <c:lvl>
                  <c:pt idx="0">
                    <c:v>Off-peak</c:v>
                  </c:pt>
                  <c:pt idx="1">
                    <c:v>Rush hour</c:v>
                  </c:pt>
                  <c:pt idx="2">
                    <c:v>Event surge</c:v>
                  </c:pt>
                  <c:pt idx="3">
                    <c:v>Random</c:v>
                  </c:pt>
                </c:lvl>
              </c:multiLvlStrCache>
            </c:multiLvlStrRef>
          </c:cat>
          <c:val>
            <c:numRef>
              <c:f>Sheet1!$C$2:$C$5</c:f>
              <c:numCache>
                <c:formatCode>General</c:formatCode>
                <c:ptCount val="4"/>
                <c:pt idx="0">
                  <c:v>28.6</c:v>
                </c:pt>
                <c:pt idx="1">
                  <c:v>34.5</c:v>
                </c:pt>
                <c:pt idx="2">
                  <c:v>31.8</c:v>
                </c:pt>
                <c:pt idx="3">
                  <c:v>32</c:v>
                </c:pt>
              </c:numCache>
            </c:numRef>
          </c:val>
        </c:ser>
        <c:ser>
          <c:idx val="2"/>
          <c:order val="2"/>
          <c:tx>
            <c:strRef>
              <c:f>Sheet1!$D$1</c:f>
              <c:strCache>
                <c:ptCount val="1"/>
                <c:pt idx="0">
                  <c:v>QAOA p=2</c:v>
                </c:pt>
              </c:strCache>
            </c:strRef>
          </c:tx>
          <c:spPr>
            <a:solidFill>
              <a:srgbClr val="7C3AED"/>
            </a:solidFill>
            <a:effectLst/>
          </c:spPr>
          <c:invertIfNegative val="0"/>
          <c:dLbls>
            <c:numFmt formatCode="0" sourceLinked="0"/>
            <c:txPr>
              <a:bodyPr/>
              <a:lstStyle/>
              <a:p>
                <a:pPr>
                  <a:defRPr b="0" i="0" strike="noStrike" sz="1000" u="none">
                    <a:solidFill>
                      <a:srgbClr val="4B5165"/>
                    </a:solidFill>
                    <a:latin typeface="+mn-lt"/>
                  </a:defRPr>
                </a:pPr>
              </a:p>
            </c:txPr>
            <c:showLegendKey val="0"/>
            <c:showVal val="1"/>
            <c:showCatName val="0"/>
            <c:showSerName val="0"/>
            <c:showPercent val="0"/>
            <c:showBubbleSize val="0"/>
            <c:showLeaderLines val="0"/>
          </c:dLbls>
          <c:cat>
            <c:multiLvlStrRef>
              <c:f>Sheet1!$A$2:$A$5</c:f>
              <c:multiLvlStrCache>
                <c:ptCount val="4"/>
                <c:lvl>
                  <c:pt idx="0">
                    <c:v>Off-peak</c:v>
                  </c:pt>
                  <c:pt idx="1">
                    <c:v>Rush hour</c:v>
                  </c:pt>
                  <c:pt idx="2">
                    <c:v>Event surge</c:v>
                  </c:pt>
                  <c:pt idx="3">
                    <c:v>Random</c:v>
                  </c:pt>
                </c:lvl>
              </c:multiLvlStrCache>
            </c:multiLvlStrRef>
          </c:cat>
          <c:val>
            <c:numRef>
              <c:f>Sheet1!$D$2:$D$5</c:f>
              <c:numCache>
                <c:formatCode>General</c:formatCode>
                <c:ptCount val="4"/>
                <c:pt idx="0">
                  <c:v>21.9</c:v>
                </c:pt>
                <c:pt idx="1">
                  <c:v>30.2</c:v>
                </c:pt>
                <c:pt idx="2">
                  <c:v>27.6</c:v>
                </c:pt>
                <c:pt idx="3">
                  <c:v>23.4</c:v>
                </c:pt>
              </c:numCache>
            </c:numRef>
          </c:val>
        </c:ser>
        <c:dLbls>
          <c:numFmt formatCode="0" sourceLinked="0"/>
          <c:txPr>
            <a:bodyPr/>
            <a:lstStyle/>
            <a:p>
              <a:pPr>
                <a:defRPr b="0" i="0" strike="noStrike" sz="1000" u="none">
                  <a:solidFill>
                    <a:srgbClr val="4B5165"/>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B5165"/>
                </a:solidFill>
                <a:latin typeface="+mn-lt"/>
              </a:defRPr>
            </a:pPr>
            <a:endParaRPr lang="en-US"/>
          </a:p>
        </c:txPr>
        <c:crossAx val="2094734552"/>
        <c:crosses val="autoZero"/>
        <c:auto val="1"/>
        <c:lblAlgn val="ctr"/>
        <c:noMultiLvlLbl val="1"/>
      </c:catAx>
      <c:valAx>
        <c:axId val="2094734552"/>
        <c:scaling>
          <c:orientation val="minMax"/>
          <c:max val="100"/>
        </c:scaling>
        <c:delete val="0"/>
        <c:axPos val="l"/>
        <c:majorGridlines>
          <c:spPr>
            <a:ln w="6350" cap="flat">
              <a:solidFill>
                <a:srgbClr val="E3E5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4B5165"/>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Harshit Kumar, team lead of team NULL POINTER from CSE at SIT Tumkur. Most signals run on fixed timers. In our simulation of a 2x2 grid at rush hour, fixed timers make each vehicle wait 83.5 seconds on average. Coordinating many signals is a combinatorial problem: the number of plans explodes as 2 to the power of signals times time slots.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signal in every 30-second slot is one qubit: 0 means north-south green, 1 means east-west green. We predict the queues, build a QUBO whose cost is the squared queues plus a switching penalty, convert it to an Ising Hamiltonian and solve it with QAOA in Qiskit. The best plan runs for 30 seconds, then we re-plan with fresh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Qiskit circuit for one QAOA layer on a 2x2 grid. Hadamards create a superposition over all plans. RZ gates encode each signal's queue pressure and RZZ gates encode the couplings between neighbours. RX is the mixer. COBYLA trains the angles gamma and beta, and we sample the circuit to pick the cheapest plan. At depth p=2 for 8 qubits the circuit has 80 CNOTs and depth 75 after transpiling.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random arrivals for every controller. In light traffic QAOA ties fixed timers; under heavy or uneven traffic it beats both fixed-time and actuated control, and matches the exact brute-force optimum. Deeper circuits improve the approximation ratio from 0.85 to 0.93, and it still finds the optimum with 1 percent gate noise. Honest limit: at this size classical solvers are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run the same circuit on IBM Quantum hardware, split real cities into corridors that fit on a device, and connect to SUMO and live detector data. The demo video, the live dashboard and the MIT-licensed code are all linked here. Thank you from team NULL POINTER.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E1330"/>
        </a:solidFill>
      </p:bgPr>
    </p:bg>
    <p:spTree>
      <p:nvGrpSpPr>
        <p:cNvPr id="1" name=""/>
        <p:cNvGrpSpPr/>
        <p:nvPr/>
      </p:nvGrpSpPr>
      <p:grpSpPr>
        <a:xfrm>
          <a:off x="0" y="0"/>
          <a:ext cx="0" cy="0"/>
          <a:chOff x="0" y="0"/>
          <a:chExt cx="0" cy="0"/>
        </a:xfrm>
      </p:grpSpPr>
      <p:sp>
        <p:nvSpPr>
          <p:cNvPr id="2" name="Text 0"/>
          <p:cNvSpPr/>
          <p:nvPr>
            <p:ph idx="103" type="body" hasCustomPrompt="1"/>
          </p:nvPr>
        </p:nvSpPr>
        <p:spPr>
          <a:xfrm>
            <a:off x="1143000" y="292608"/>
            <a:ext cx="8229600" cy="301752"/>
          </a:xfrm>
          <a:prstGeom prst="rect">
            <a:avLst/>
          </a:prstGeom>
          <a:noFill/>
          <a:ln/>
        </p:spPr>
        <p:txBody>
          <a:bodyPr wrap="square" rtlCol="0"/>
          <a:lstStyle>
            <a:lvl1pPr algn="l" indent="0" marL="0">
              <a:buNone/>
              <a:defRPr lang="en-US" sz="1200" b="1" dirty="0">
                <a:solidFill>
                  <a:srgbClr val="C4B5FD"/>
                </a:solidFill>
              </a:defRPr>
            </a:lvl1pPr>
          </a:lstStyle>
          <a:p>
            <a:pPr algn="l" indent="0" marL="0">
              <a:buNone/>
            </a:pPr>
            <a:endParaRPr lang="en-US" sz="1200" dirty="0"/>
          </a:p>
        </p:txBody>
      </p:sp>
      <p:sp>
        <p:nvSpPr>
          <p:cNvPr id="3" name="Text 0"/>
          <p:cNvSpPr/>
          <p:nvPr>
            <p:ph idx="104" type="title" hasCustomPrompt="1"/>
          </p:nvPr>
        </p:nvSpPr>
        <p:spPr>
          <a:xfrm>
            <a:off x="548640" y="658368"/>
            <a:ext cx="11094415" cy="868680"/>
          </a:xfrm>
          <a:prstGeom prst="rect">
            <a:avLst/>
          </a:prstGeom>
          <a:noFill/>
          <a:ln/>
        </p:spPr>
        <p:txBody>
          <a:bodyPr wrap="square" rtlCol="0"/>
          <a:lstStyle>
            <a:lvl1pPr algn="l" indent="0" marL="0">
              <a:buNone/>
              <a:defRPr lang="en-US" sz="3600" b="1" dirty="0">
                <a:solidFill>
                  <a:srgbClr val="FFFFFF"/>
                </a:solidFill>
                <a:latin typeface="Calibri" pitchFamily="34" charset="0"/>
                <a:ea typeface="Calibri" pitchFamily="34" charset="-122"/>
                <a:cs typeface="Calibri" pitchFamily="34" charset="-120"/>
              </a:defRPr>
            </a:lvl1pPr>
          </a:lstStyle>
          <a:p>
            <a:pPr algn="l" indent="0" marL="0">
              <a:buNone/>
            </a:pPr>
            <a:endParaRPr lang="en-US" sz="3600" dirty="0"/>
          </a:p>
        </p:txBody>
      </p:sp>
      <p:sp>
        <p:nvSpPr>
          <p:cNvPr id="4" name="Text 0"/>
          <p:cNvSpPr/>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rgbClr val="9AA4B2"/>
                </a:solidFill>
              </a:rPr>
              <a:t>Team NULL POINTER  ·  Dept. of CSE, SIT Tumkur</a:t>
            </a:r>
            <a:endParaRPr lang="en-US" sz="10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4B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ph idx="103" type="body" hasCustomPrompt="1"/>
          </p:nvPr>
        </p:nvSpPr>
        <p:spPr>
          <a:xfrm>
            <a:off x="1143000" y="292608"/>
            <a:ext cx="8229600" cy="301752"/>
          </a:xfrm>
          <a:prstGeom prst="rect">
            <a:avLst/>
          </a:prstGeom>
          <a:noFill/>
          <a:ln/>
        </p:spPr>
        <p:txBody>
          <a:bodyPr wrap="square" rtlCol="0"/>
          <a:lstStyle>
            <a:lvl1pPr algn="l" indent="0" marL="0">
              <a:buNone/>
              <a:defRPr lang="en-US" sz="1200" b="1" dirty="0">
                <a:solidFill>
                  <a:srgbClr val="7C3AED"/>
                </a:solidFill>
              </a:defRPr>
            </a:lvl1pPr>
          </a:lstStyle>
          <a:p>
            <a:pPr algn="l" indent="0" marL="0">
              <a:buNone/>
            </a:pPr>
            <a:endParaRPr lang="en-US" sz="1200" dirty="0"/>
          </a:p>
        </p:txBody>
      </p:sp>
      <p:sp>
        <p:nvSpPr>
          <p:cNvPr id="3" name="Text 0"/>
          <p:cNvSpPr/>
          <p:nvPr>
            <p:ph idx="104" type="title" hasCustomPrompt="1"/>
          </p:nvPr>
        </p:nvSpPr>
        <p:spPr>
          <a:xfrm>
            <a:off x="548640" y="658368"/>
            <a:ext cx="11094415" cy="868680"/>
          </a:xfrm>
          <a:prstGeom prst="rect">
            <a:avLst/>
          </a:prstGeom>
          <a:noFill/>
          <a:ln/>
        </p:spPr>
        <p:txBody>
          <a:bodyPr wrap="square" rtlCol="0"/>
          <a:lstStyle>
            <a:lvl1pPr algn="l" indent="0" marL="0">
              <a:buNone/>
              <a:defRPr lang="en-US" sz="3600" b="1" dirty="0">
                <a:solidFill>
                  <a:srgbClr val="0E1330"/>
                </a:solidFill>
                <a:latin typeface="Calibri" pitchFamily="34" charset="0"/>
                <a:ea typeface="Calibri" pitchFamily="34" charset="-122"/>
                <a:cs typeface="Calibri" pitchFamily="34" charset="-120"/>
              </a:defRPr>
            </a:lvl1pPr>
          </a:lstStyle>
          <a:p>
            <a:pPr algn="l" indent="0" marL="0">
              <a:buNone/>
            </a:pPr>
            <a:endParaRPr lang="en-US" sz="3600" dirty="0"/>
          </a:p>
        </p:txBody>
      </p:sp>
      <p:sp>
        <p:nvSpPr>
          <p:cNvPr id="4" name="Text 0"/>
          <p:cNvSpPr/>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rgbClr val="6B7280"/>
                </a:solidFill>
              </a:rPr>
              <a:t>Team NULL POINTER  ·  Dept. of CSE, SIT Tumkur</a:t>
            </a:r>
            <a:endParaRPr lang="en-US" sz="10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4B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vhack.harshithk.tech" TargetMode="External"/><Relationship Id="rId1" Type="http://schemas.openxmlformats.org/officeDocument/2006/relationships/image" Target="../media/image-1-1.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4" Type="http://schemas.openxmlformats.org/officeDocument/2006/relationships/hyperlink" Target="https://vhack.harshithk.tech" TargetMode="External"/><Relationship Id="rId5" Type="http://schemas.openxmlformats.org/officeDocument/2006/relationships/hyperlink" Target="https://qtraffic.harshithk.tech" TargetMode="External"/><Relationship Id="rId6" Type="http://schemas.openxmlformats.org/officeDocument/2006/relationships/hyperlink" Target="https://github.com/Harshithk00/Vhack" TargetMode="External"/><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7" Type="http://schemas.openxmlformats.org/officeDocument/2006/relationships/slideLayout" Target="../slideLayouts/slideLayout2.xml"/><Relationship Id="rId8"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3" type="body" hasCustomPrompt="1"/>
          </p:nvPr>
        </p:nvSpPr>
        <p:spPr>
          <a:xfrm>
            <a:off x="1143000" y="292608"/>
            <a:ext cx="8229600" cy="301752"/>
          </a:xfrm>
          <a:prstGeom prst="rect">
            <a:avLst/>
          </a:prstGeom>
          <a:noFill/>
          <a:ln/>
        </p:spPr>
        <p:txBody>
          <a:bodyPr wrap="square" lIns="0" tIns="0" rIns="0" bIns="0" rtlCol="0" anchor="ctr"/>
          <a:lstStyle/>
          <a:p>
            <a:pPr algn="l" indent="0" marL="0">
              <a:buNone/>
            </a:pPr>
            <a:r>
              <a:rPr lang="en-US" sz="1200" b="1" dirty="0">
                <a:solidFill>
                  <a:srgbClr val="C4B5FD"/>
                </a:solidFill>
              </a:rPr>
              <a:t>Quantum-Assisted Traffic Signal Optimization using QAOA</a:t>
            </a:r>
            <a:endParaRPr lang="en-US" sz="1200" dirty="0"/>
          </a:p>
        </p:txBody>
      </p:sp>
      <p:sp>
        <p:nvSpPr>
          <p:cNvPr id="3" name="Text 0"/>
          <p:cNvSpPr/>
          <p:nvPr>
            <p:ph idx="104"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600" b="1" dirty="0">
                <a:solidFill>
                  <a:srgbClr val="FFFFFF"/>
                </a:solidFill>
                <a:latin typeface="Calibri" pitchFamily="34" charset="0"/>
                <a:ea typeface="Calibri" pitchFamily="34" charset="-122"/>
                <a:cs typeface="Calibri" pitchFamily="34" charset="-120"/>
              </a:rPr>
              <a:t>Fixed-timer traffic lights waste everyone's time</a:t>
            </a:r>
            <a:endParaRPr lang="en-US" sz="3600" dirty="0"/>
          </a:p>
        </p:txBody>
      </p:sp>
      <p:sp>
        <p:nvSpPr>
          <p:cNvPr id="4" name="Problem bullets"/>
          <p:cNvSpPr txBox="1"/>
          <p:nvPr/>
        </p:nvSpPr>
        <p:spPr>
          <a:xfrm>
            <a:off x="548640" y="1783080"/>
            <a:ext cx="5577840" cy="237744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E6E8EF"/>
                </a:solidFill>
              </a:rPr>
              <a:t>Most city signals still run on fixed timers, blind to the queues in front of them</a:t>
            </a:r>
            <a:endParaRPr lang="en-US" sz="1800" dirty="0"/>
          </a:p>
          <a:p>
            <a:pPr marL="342900" indent="-342900">
              <a:spcAft>
                <a:spcPts val="1200"/>
              </a:spcAft>
              <a:buSzPct val="100000"/>
              <a:buChar char="•"/>
            </a:pPr>
            <a:r>
              <a:rPr lang="en-US" sz="1800" dirty="0">
                <a:solidFill>
                  <a:srgbClr val="E6E8EF"/>
                </a:solidFill>
              </a:rPr>
              <a:t>At rush hour, green time goes to empty roads while the busy road backs up</a:t>
            </a:r>
            <a:endParaRPr lang="en-US" sz="1800" dirty="0"/>
          </a:p>
          <a:p>
            <a:pPr marL="342900" indent="-342900">
              <a:spcAft>
                <a:spcPts val="1200"/>
              </a:spcAft>
              <a:buSzPct val="100000"/>
              <a:buChar char="•"/>
            </a:pPr>
            <a:r>
              <a:rPr lang="en-US" sz="1800" dirty="0">
                <a:solidFill>
                  <a:srgbClr val="E6E8EF"/>
                </a:solidFill>
              </a:rPr>
              <a:t>Coordinating signals is combinatorial: 4 signals planned 1 minute ahead already have 256 possible plans</a:t>
            </a:r>
            <a:endParaRPr lang="en-US" sz="1800" dirty="0"/>
          </a:p>
        </p:txBody>
      </p:sp>
      <p:sp>
        <p:nvSpPr>
          <p:cNvPr id="5" name="Problem stat 1"/>
          <p:cNvSpPr/>
          <p:nvPr/>
        </p:nvSpPr>
        <p:spPr>
          <a:xfrm>
            <a:off x="548640" y="4251960"/>
            <a:ext cx="2697480" cy="1600200"/>
          </a:xfrm>
          <a:prstGeom prst="roundRect">
            <a:avLst>
              <a:gd name="adj" fmla="val 6857"/>
            </a:avLst>
          </a:prstGeom>
          <a:solidFill>
            <a:srgbClr val="1B2146"/>
          </a:solidFill>
          <a:ln w="9525">
            <a:solidFill>
              <a:srgbClr val="2E3566"/>
            </a:solidFill>
            <a:prstDash val="solid"/>
          </a:ln>
        </p:spPr>
      </p:sp>
      <p:sp>
        <p:nvSpPr>
          <p:cNvPr id="6" name="Problem stat value 1"/>
          <p:cNvSpPr txBox="1"/>
          <p:nvPr/>
        </p:nvSpPr>
        <p:spPr>
          <a:xfrm>
            <a:off x="777240" y="4370832"/>
            <a:ext cx="2286000" cy="685800"/>
          </a:xfrm>
          <a:prstGeom prst="rect">
            <a:avLst/>
          </a:prstGeom>
          <a:noFill/>
          <a:ln/>
        </p:spPr>
        <p:txBody>
          <a:bodyPr wrap="square" lIns="0" tIns="0" rIns="0" bIns="0" rtlCol="0" anchor="ctr"/>
          <a:lstStyle/>
          <a:p>
            <a:pPr indent="0" marL="0">
              <a:buNone/>
            </a:pPr>
            <a:r>
              <a:rPr lang="en-US" sz="4000" b="1" dirty="0">
                <a:solidFill>
                  <a:srgbClr val="E5484D"/>
                </a:solidFill>
              </a:rPr>
              <a:t>83.5 s</a:t>
            </a:r>
            <a:endParaRPr lang="en-US" sz="4000" dirty="0"/>
          </a:p>
        </p:txBody>
      </p:sp>
      <p:sp>
        <p:nvSpPr>
          <p:cNvPr id="7" name="Problem stat label 1"/>
          <p:cNvSpPr txBox="1"/>
          <p:nvPr/>
        </p:nvSpPr>
        <p:spPr>
          <a:xfrm>
            <a:off x="777240" y="5047488"/>
            <a:ext cx="2286000" cy="731520"/>
          </a:xfrm>
          <a:prstGeom prst="rect">
            <a:avLst/>
          </a:prstGeom>
          <a:noFill/>
          <a:ln/>
        </p:spPr>
        <p:txBody>
          <a:bodyPr wrap="square" lIns="0" tIns="0" rIns="0" bIns="0" rtlCol="0" anchor="t"/>
          <a:lstStyle/>
          <a:p>
            <a:pPr indent="0" marL="0">
              <a:buNone/>
            </a:pPr>
            <a:r>
              <a:rPr lang="en-US" sz="1200" dirty="0">
                <a:solidFill>
                  <a:srgbClr val="C9CEDB"/>
                </a:solidFill>
              </a:rPr>
              <a:t>average wait per vehicle with fixed timers at rush hour (our simulation, 2×2 grid)</a:t>
            </a:r>
            <a:endParaRPr lang="en-US" sz="1200" dirty="0"/>
          </a:p>
        </p:txBody>
      </p:sp>
      <p:sp>
        <p:nvSpPr>
          <p:cNvPr id="8" name="Problem stat 2"/>
          <p:cNvSpPr/>
          <p:nvPr/>
        </p:nvSpPr>
        <p:spPr>
          <a:xfrm>
            <a:off x="3429000" y="4251960"/>
            <a:ext cx="2697480" cy="1600200"/>
          </a:xfrm>
          <a:prstGeom prst="roundRect">
            <a:avLst>
              <a:gd name="adj" fmla="val 6857"/>
            </a:avLst>
          </a:prstGeom>
          <a:solidFill>
            <a:srgbClr val="1B2146"/>
          </a:solidFill>
          <a:ln w="9525">
            <a:solidFill>
              <a:srgbClr val="2E3566"/>
            </a:solidFill>
            <a:prstDash val="solid"/>
          </a:ln>
        </p:spPr>
      </p:sp>
      <p:sp>
        <p:nvSpPr>
          <p:cNvPr id="9" name="Problem stat value 2"/>
          <p:cNvSpPr txBox="1"/>
          <p:nvPr/>
        </p:nvSpPr>
        <p:spPr>
          <a:xfrm>
            <a:off x="3657600" y="4370832"/>
            <a:ext cx="2286000" cy="685800"/>
          </a:xfrm>
          <a:prstGeom prst="rect">
            <a:avLst/>
          </a:prstGeom>
          <a:noFill/>
          <a:ln/>
        </p:spPr>
        <p:txBody>
          <a:bodyPr wrap="square" lIns="0" tIns="0" rIns="0" bIns="0" rtlCol="0" anchor="ctr"/>
          <a:lstStyle/>
          <a:p>
            <a:pPr indent="0" marL="0">
              <a:buNone/>
            </a:pPr>
            <a:r>
              <a:rPr lang="en-US" sz="4000" b="1" dirty="0">
                <a:solidFill>
                  <a:srgbClr val="F5A524"/>
                </a:solidFill>
              </a:rPr>
              <a:t>2³²</a:t>
            </a:r>
            <a:endParaRPr lang="en-US" sz="4000" dirty="0"/>
          </a:p>
        </p:txBody>
      </p:sp>
      <p:sp>
        <p:nvSpPr>
          <p:cNvPr id="10" name="Problem stat label 2"/>
          <p:cNvSpPr txBox="1"/>
          <p:nvPr/>
        </p:nvSpPr>
        <p:spPr>
          <a:xfrm>
            <a:off x="3657600" y="5047488"/>
            <a:ext cx="2286000" cy="731520"/>
          </a:xfrm>
          <a:prstGeom prst="rect">
            <a:avLst/>
          </a:prstGeom>
          <a:noFill/>
          <a:ln/>
        </p:spPr>
        <p:txBody>
          <a:bodyPr wrap="square" lIns="0" tIns="0" rIns="0" bIns="0" rtlCol="0" anchor="t"/>
          <a:lstStyle/>
          <a:p>
            <a:pPr indent="0" marL="0">
              <a:buNone/>
            </a:pPr>
            <a:r>
              <a:rPr lang="en-US" sz="1200" dirty="0">
                <a:solidFill>
                  <a:srgbClr val="C9CEDB"/>
                </a:solidFill>
              </a:rPr>
              <a:t>possible signal plans for a 4×4 grid, one minute ahead</a:t>
            </a:r>
            <a:endParaRPr lang="en-US" sz="1200" dirty="0"/>
          </a:p>
        </p:txBody>
      </p:sp>
      <p:sp>
        <p:nvSpPr>
          <p:cNvPr id="11" name="Grid image frame"/>
          <p:cNvSpPr/>
          <p:nvPr/>
        </p:nvSpPr>
        <p:spPr>
          <a:xfrm>
            <a:off x="6583680" y="1783080"/>
            <a:ext cx="5056632" cy="3246120"/>
          </a:xfrm>
          <a:prstGeom prst="roundRect">
            <a:avLst>
              <a:gd name="adj" fmla="val 3380"/>
            </a:avLst>
          </a:prstGeom>
          <a:solidFill>
            <a:srgbClr val="FFFFFF"/>
          </a:solidFill>
          <a:ln w="9525">
            <a:solidFill>
              <a:srgbClr val="FFFFFF"/>
            </a:solidFill>
            <a:prstDash val="solid"/>
          </a:ln>
        </p:spPr>
      </p:sp>
      <p:pic>
        <p:nvPicPr>
          <p:cNvPr id="12" name="Signal grid before and after" descr="3x3 signal grid: queues now, and 30 seconds later with the QAOA plan">    </p:cNvPr>
          <p:cNvPicPr>
            <a:picLocks noChangeAspect="1"/>
          </p:cNvPicPr>
          <p:nvPr/>
        </p:nvPicPr>
        <p:blipFill>
          <a:blip r:embed="rId1"/>
          <a:stretch>
            <a:fillRect/>
          </a:stretch>
        </p:blipFill>
        <p:spPr>
          <a:xfrm>
            <a:off x="6720840" y="1901952"/>
            <a:ext cx="4782312" cy="3008376"/>
          </a:xfrm>
          <a:prstGeom prst="rect">
            <a:avLst/>
          </a:prstGeom>
        </p:spPr>
      </p:pic>
      <p:sp>
        <p:nvSpPr>
          <p:cNvPr id="13" name="Grid caption"/>
          <p:cNvSpPr txBox="1"/>
          <p:nvPr/>
        </p:nvSpPr>
        <p:spPr>
          <a:xfrm>
            <a:off x="6583680" y="5102352"/>
            <a:ext cx="5056632" cy="320040"/>
          </a:xfrm>
          <a:prstGeom prst="rect">
            <a:avLst/>
          </a:prstGeom>
          <a:noFill/>
          <a:ln/>
        </p:spPr>
        <p:txBody>
          <a:bodyPr wrap="square" lIns="0" tIns="0" rIns="0" bIns="0" rtlCol="0" anchor="ctr"/>
          <a:lstStyle/>
          <a:p>
            <a:pPr algn="ctr" indent="0" marL="0">
              <a:buNone/>
            </a:pPr>
            <a:r>
              <a:rPr lang="en-US" sz="1100" dirty="0">
                <a:solidFill>
                  <a:srgbClr val="9AA4B2"/>
                </a:solidFill>
              </a:rPr>
              <a:t>A 3×3 grid: queues now (left) and 30 s later with our QAOA plan (right)</a:t>
            </a:r>
            <a:endParaRPr lang="en-US" sz="1100" dirty="0"/>
          </a:p>
        </p:txBody>
      </p:sp>
      <p:sp>
        <p:nvSpPr>
          <p:cNvPr id="14" name="Demo link"/>
          <p:cNvSpPr txBox="1"/>
          <p:nvPr/>
        </p:nvSpPr>
        <p:spPr>
          <a:xfrm>
            <a:off x="6583680" y="5532120"/>
            <a:ext cx="5056632" cy="320040"/>
          </a:xfrm>
          <a:prstGeom prst="rect">
            <a:avLst/>
          </a:prstGeom>
          <a:noFill/>
          <a:ln/>
        </p:spPr>
        <p:txBody>
          <a:bodyPr wrap="square" lIns="0" tIns="0" rIns="0" bIns="0" rtlCol="0" anchor="ctr"/>
          <a:lstStyle/>
          <a:p>
            <a:pPr algn="ctr" indent="0" marL="0">
              <a:buNone/>
            </a:pPr>
            <a:r>
              <a:rPr lang="en-US" sz="1300" dirty="0">
                <a:solidFill>
                  <a:srgbClr val="C9CEDB"/>
                </a:solidFill>
              </a:rPr>
              <a:t>Watch the demo: </a:t>
            </a:r>
            <a:pPr algn="ctr" indent="0" marL="0">
              <a:buNone/>
            </a:pPr>
            <a:r>
              <a:rPr lang="en-US" sz="1300" b="1" u="sng" dirty="0">
                <a:solidFill>
                  <a:srgbClr val="C4B5FD"/>
                </a:solidFill>
                <a:hlinkClick r:id="rId2" invalidUrl="" action="" tgtFrame="" tooltip="Demo video" history="1" highlightClick="0" endSnd="0">
                  <a:extLst>
                    <a:ext uri="{A12FA001-AC4F-418D-AE19-62706E023703}">
                      <ahyp:hlinkClr xmlns:ahyp="http://schemas.microsoft.com/office/drawing/2018/hyperlinkcolor" val="tx"/>
                    </a:ext>
                  </a:extLst>
                </a:hlinkClick>
              </a:rPr>
              <a:t>vhack.harshithk.tech</a:t>
            </a:r>
            <a:endParaRPr lang="en-US" sz="13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4B2"/>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3" type="body" hasCustomPrompt="1"/>
          </p:nvPr>
        </p:nvSpPr>
        <p:spPr>
          <a:xfrm>
            <a:off x="1143000" y="292608"/>
            <a:ext cx="8229600" cy="301752"/>
          </a:xfrm>
          <a:prstGeom prst="rect">
            <a:avLst/>
          </a:prstGeom>
          <a:noFill/>
          <a:ln/>
        </p:spPr>
        <p:txBody>
          <a:bodyPr wrap="square" lIns="0" tIns="0" rIns="0" bIns="0" rtlCol="0" anchor="ctr"/>
          <a:lstStyle/>
          <a:p>
            <a:pPr algn="l" indent="0" marL="0">
              <a:buNone/>
            </a:pPr>
            <a:r>
              <a:rPr lang="en-US" sz="1200" b="1" dirty="0">
                <a:solidFill>
                  <a:srgbClr val="7C3AED"/>
                </a:solidFill>
              </a:rPr>
              <a:t>Our approach</a:t>
            </a:r>
            <a:endParaRPr lang="en-US" sz="1200" dirty="0"/>
          </a:p>
        </p:txBody>
      </p:sp>
      <p:sp>
        <p:nvSpPr>
          <p:cNvPr id="3" name="Text 0"/>
          <p:cNvSpPr/>
          <p:nvPr>
            <p:ph idx="104"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600" b="1" dirty="0">
                <a:solidFill>
                  <a:srgbClr val="0E1330"/>
                </a:solidFill>
                <a:latin typeface="Calibri" pitchFamily="34" charset="0"/>
                <a:ea typeface="Calibri" pitchFamily="34" charset="-122"/>
                <a:cs typeface="Calibri" pitchFamily="34" charset="-120"/>
              </a:rPr>
              <a:t>Each signal becomes a qubit, and QAOA picks the plan</a:t>
            </a:r>
            <a:endParaRPr lang="en-US" sz="3600" dirty="0"/>
          </a:p>
        </p:txBody>
      </p:sp>
      <p:sp>
        <p:nvSpPr>
          <p:cNvPr id="4" name="Step card 1"/>
          <p:cNvSpPr/>
          <p:nvPr/>
        </p:nvSpPr>
        <p:spPr>
          <a:xfrm>
            <a:off x="548640" y="1828800"/>
            <a:ext cx="2011680" cy="2148840"/>
          </a:xfrm>
          <a:prstGeom prst="roundRect">
            <a:avLst>
              <a:gd name="adj" fmla="val 5455"/>
            </a:avLst>
          </a:prstGeom>
          <a:solidFill>
            <a:srgbClr val="F3F4F8"/>
          </a:solidFill>
          <a:ln w="9525">
            <a:solidFill>
              <a:srgbClr val="E3E5EE"/>
            </a:solidFill>
            <a:prstDash val="solid"/>
          </a:ln>
        </p:spPr>
      </p:sp>
      <p:sp>
        <p:nvSpPr>
          <p:cNvPr id="5" name="Step 1 circle"/>
          <p:cNvSpPr/>
          <p:nvPr/>
        </p:nvSpPr>
        <p:spPr>
          <a:xfrm>
            <a:off x="731520" y="2029968"/>
            <a:ext cx="566928" cy="566928"/>
          </a:xfrm>
          <a:prstGeom prst="ellipse">
            <a:avLst/>
          </a:prstGeom>
          <a:solidFill>
            <a:srgbClr val="3B82F6"/>
          </a:solidFill>
          <a:ln/>
        </p:spPr>
      </p:sp>
      <p:pic>
        <p:nvPicPr>
          <p:cNvPr id="6" name="Step 1 icon" descr="preencoded.png">    </p:cNvPr>
          <p:cNvPicPr>
            <a:picLocks noChangeAspect="1"/>
          </p:cNvPicPr>
          <p:nvPr/>
        </p:nvPicPr>
        <p:blipFill>
          <a:blip r:embed="rId1"/>
          <a:stretch>
            <a:fillRect/>
          </a:stretch>
        </p:blipFill>
        <p:spPr>
          <a:xfrm>
            <a:off x="873252" y="2171700"/>
            <a:ext cx="283464" cy="283464"/>
          </a:xfrm>
          <a:prstGeom prst="rect">
            <a:avLst/>
          </a:prstGeom>
        </p:spPr>
      </p:pic>
      <p:sp>
        <p:nvSpPr>
          <p:cNvPr id="7" name="Step title 1"/>
          <p:cNvSpPr txBox="1"/>
          <p:nvPr/>
        </p:nvSpPr>
        <p:spPr>
          <a:xfrm>
            <a:off x="731520" y="2697480"/>
            <a:ext cx="1645920" cy="384048"/>
          </a:xfrm>
          <a:prstGeom prst="rect">
            <a:avLst/>
          </a:prstGeom>
          <a:noFill/>
          <a:ln/>
        </p:spPr>
        <p:txBody>
          <a:bodyPr wrap="square" lIns="0" tIns="0" rIns="0" bIns="0" rtlCol="0" anchor="ctr"/>
          <a:lstStyle/>
          <a:p>
            <a:pPr indent="0" marL="0">
              <a:buNone/>
            </a:pPr>
            <a:r>
              <a:rPr lang="en-US" sz="1800" b="1" dirty="0">
                <a:solidFill>
                  <a:srgbClr val="0E1330"/>
                </a:solidFill>
              </a:rPr>
              <a:t>Read queues</a:t>
            </a:r>
            <a:endParaRPr lang="en-US" sz="1800" dirty="0"/>
          </a:p>
        </p:txBody>
      </p:sp>
      <p:sp>
        <p:nvSpPr>
          <p:cNvPr id="8" name="Step text 1"/>
          <p:cNvSpPr txBox="1"/>
          <p:nvPr/>
        </p:nvSpPr>
        <p:spPr>
          <a:xfrm>
            <a:off x="731520" y="3090672"/>
            <a:ext cx="1645920" cy="822960"/>
          </a:xfrm>
          <a:prstGeom prst="rect">
            <a:avLst/>
          </a:prstGeom>
          <a:noFill/>
          <a:ln/>
        </p:spPr>
        <p:txBody>
          <a:bodyPr wrap="square" lIns="0" tIns="0" rIns="0" bIns="0" rtlCol="0" anchor="t"/>
          <a:lstStyle/>
          <a:p>
            <a:pPr indent="0" marL="0">
              <a:buNone/>
            </a:pPr>
            <a:r>
              <a:rPr lang="en-US" sz="1300" dirty="0">
                <a:solidFill>
                  <a:srgbClr val="4B5165"/>
                </a:solidFill>
              </a:rPr>
              <a:t>Live queue length on every approach, every 30 seconds</a:t>
            </a:r>
            <a:endParaRPr lang="en-US" sz="1300" dirty="0"/>
          </a:p>
        </p:txBody>
      </p:sp>
      <p:sp>
        <p:nvSpPr>
          <p:cNvPr id="9" name="Arrow 1"/>
          <p:cNvSpPr/>
          <p:nvPr/>
        </p:nvSpPr>
        <p:spPr>
          <a:xfrm>
            <a:off x="2624328" y="2788920"/>
            <a:ext cx="118872" cy="237744"/>
          </a:xfrm>
          <a:prstGeom prst="chevron">
            <a:avLst/>
          </a:prstGeom>
          <a:solidFill>
            <a:srgbClr val="B7BCCB"/>
          </a:solidFill>
          <a:ln/>
        </p:spPr>
      </p:sp>
      <p:sp>
        <p:nvSpPr>
          <p:cNvPr id="10" name="Step card 2"/>
          <p:cNvSpPr/>
          <p:nvPr/>
        </p:nvSpPr>
        <p:spPr>
          <a:xfrm>
            <a:off x="2807208" y="1828800"/>
            <a:ext cx="2011680" cy="2148840"/>
          </a:xfrm>
          <a:prstGeom prst="roundRect">
            <a:avLst>
              <a:gd name="adj" fmla="val 5455"/>
            </a:avLst>
          </a:prstGeom>
          <a:solidFill>
            <a:srgbClr val="F3F4F8"/>
          </a:solidFill>
          <a:ln w="9525">
            <a:solidFill>
              <a:srgbClr val="E3E5EE"/>
            </a:solidFill>
            <a:prstDash val="solid"/>
          </a:ln>
        </p:spPr>
      </p:sp>
      <p:sp>
        <p:nvSpPr>
          <p:cNvPr id="11" name="Step 2 circle"/>
          <p:cNvSpPr/>
          <p:nvPr/>
        </p:nvSpPr>
        <p:spPr>
          <a:xfrm>
            <a:off x="2990088" y="2029968"/>
            <a:ext cx="566928" cy="566928"/>
          </a:xfrm>
          <a:prstGeom prst="ellipse">
            <a:avLst/>
          </a:prstGeom>
          <a:solidFill>
            <a:srgbClr val="F5A524"/>
          </a:solidFill>
          <a:ln/>
        </p:spPr>
      </p:sp>
      <p:pic>
        <p:nvPicPr>
          <p:cNvPr id="12" name="Step 2 icon" descr="preencoded.png">    </p:cNvPr>
          <p:cNvPicPr>
            <a:picLocks noChangeAspect="1"/>
          </p:cNvPicPr>
          <p:nvPr/>
        </p:nvPicPr>
        <p:blipFill>
          <a:blip r:embed="rId2"/>
          <a:stretch>
            <a:fillRect/>
          </a:stretch>
        </p:blipFill>
        <p:spPr>
          <a:xfrm>
            <a:off x="3131820" y="2171700"/>
            <a:ext cx="283464" cy="283464"/>
          </a:xfrm>
          <a:prstGeom prst="rect">
            <a:avLst/>
          </a:prstGeom>
        </p:spPr>
      </p:pic>
      <p:sp>
        <p:nvSpPr>
          <p:cNvPr id="13" name="Step title 2"/>
          <p:cNvSpPr txBox="1"/>
          <p:nvPr/>
        </p:nvSpPr>
        <p:spPr>
          <a:xfrm>
            <a:off x="2990088" y="2697480"/>
            <a:ext cx="1645920" cy="384048"/>
          </a:xfrm>
          <a:prstGeom prst="rect">
            <a:avLst/>
          </a:prstGeom>
          <a:noFill/>
          <a:ln/>
        </p:spPr>
        <p:txBody>
          <a:bodyPr wrap="square" lIns="0" tIns="0" rIns="0" bIns="0" rtlCol="0" anchor="ctr"/>
          <a:lstStyle/>
          <a:p>
            <a:pPr indent="0" marL="0">
              <a:buNone/>
            </a:pPr>
            <a:r>
              <a:rPr lang="en-US" sz="1800" b="1" dirty="0">
                <a:solidFill>
                  <a:srgbClr val="0E1330"/>
                </a:solidFill>
              </a:rPr>
              <a:t>Predict</a:t>
            </a:r>
            <a:endParaRPr lang="en-US" sz="1800" dirty="0"/>
          </a:p>
        </p:txBody>
      </p:sp>
      <p:sp>
        <p:nvSpPr>
          <p:cNvPr id="14" name="Step text 2"/>
          <p:cNvSpPr txBox="1"/>
          <p:nvPr/>
        </p:nvSpPr>
        <p:spPr>
          <a:xfrm>
            <a:off x="2990088" y="3090672"/>
            <a:ext cx="1645920" cy="822960"/>
          </a:xfrm>
          <a:prstGeom prst="rect">
            <a:avLst/>
          </a:prstGeom>
          <a:noFill/>
          <a:ln/>
        </p:spPr>
        <p:txBody>
          <a:bodyPr wrap="square" lIns="0" tIns="0" rIns="0" bIns="0" rtlCol="0" anchor="t"/>
          <a:lstStyle/>
          <a:p>
            <a:pPr indent="0" marL="0">
              <a:buNone/>
            </a:pPr>
            <a:r>
              <a:rPr lang="en-US" sz="1300" dirty="0">
                <a:solidFill>
                  <a:srgbClr val="4B5165"/>
                </a:solidFill>
              </a:rPr>
              <a:t>Queues for the next 1–3 slots, linear in the signal bits</a:t>
            </a:r>
            <a:endParaRPr lang="en-US" sz="1300" dirty="0"/>
          </a:p>
        </p:txBody>
      </p:sp>
      <p:sp>
        <p:nvSpPr>
          <p:cNvPr id="15" name="Arrow 2"/>
          <p:cNvSpPr/>
          <p:nvPr/>
        </p:nvSpPr>
        <p:spPr>
          <a:xfrm>
            <a:off x="4882896" y="2788920"/>
            <a:ext cx="118872" cy="237744"/>
          </a:xfrm>
          <a:prstGeom prst="chevron">
            <a:avLst/>
          </a:prstGeom>
          <a:solidFill>
            <a:srgbClr val="B7BCCB"/>
          </a:solidFill>
          <a:ln/>
        </p:spPr>
      </p:sp>
      <p:sp>
        <p:nvSpPr>
          <p:cNvPr id="16" name="Step card 3"/>
          <p:cNvSpPr/>
          <p:nvPr/>
        </p:nvSpPr>
        <p:spPr>
          <a:xfrm>
            <a:off x="5065776" y="1828800"/>
            <a:ext cx="2011680" cy="2148840"/>
          </a:xfrm>
          <a:prstGeom prst="roundRect">
            <a:avLst>
              <a:gd name="adj" fmla="val 5455"/>
            </a:avLst>
          </a:prstGeom>
          <a:solidFill>
            <a:srgbClr val="F3F4F8"/>
          </a:solidFill>
          <a:ln w="9525">
            <a:solidFill>
              <a:srgbClr val="E3E5EE"/>
            </a:solidFill>
            <a:prstDash val="solid"/>
          </a:ln>
        </p:spPr>
      </p:sp>
      <p:sp>
        <p:nvSpPr>
          <p:cNvPr id="17" name="Step 3 circle"/>
          <p:cNvSpPr/>
          <p:nvPr/>
        </p:nvSpPr>
        <p:spPr>
          <a:xfrm>
            <a:off x="5248656" y="2029968"/>
            <a:ext cx="566928" cy="566928"/>
          </a:xfrm>
          <a:prstGeom prst="ellipse">
            <a:avLst/>
          </a:prstGeom>
          <a:solidFill>
            <a:srgbClr val="E5484D"/>
          </a:solidFill>
          <a:ln/>
        </p:spPr>
      </p:sp>
      <p:pic>
        <p:nvPicPr>
          <p:cNvPr id="18" name="Step 3 icon" descr="preencoded.png">    </p:cNvPr>
          <p:cNvPicPr>
            <a:picLocks noChangeAspect="1"/>
          </p:cNvPicPr>
          <p:nvPr/>
        </p:nvPicPr>
        <p:blipFill>
          <a:blip r:embed="rId3"/>
          <a:stretch>
            <a:fillRect/>
          </a:stretch>
        </p:blipFill>
        <p:spPr>
          <a:xfrm>
            <a:off x="5390388" y="2171700"/>
            <a:ext cx="283464" cy="283464"/>
          </a:xfrm>
          <a:prstGeom prst="rect">
            <a:avLst/>
          </a:prstGeom>
        </p:spPr>
      </p:pic>
      <p:sp>
        <p:nvSpPr>
          <p:cNvPr id="19" name="Step title 3"/>
          <p:cNvSpPr txBox="1"/>
          <p:nvPr/>
        </p:nvSpPr>
        <p:spPr>
          <a:xfrm>
            <a:off x="5248656" y="2697480"/>
            <a:ext cx="1645920" cy="384048"/>
          </a:xfrm>
          <a:prstGeom prst="rect">
            <a:avLst/>
          </a:prstGeom>
          <a:noFill/>
          <a:ln/>
        </p:spPr>
        <p:txBody>
          <a:bodyPr wrap="square" lIns="0" tIns="0" rIns="0" bIns="0" rtlCol="0" anchor="ctr"/>
          <a:lstStyle/>
          <a:p>
            <a:pPr indent="0" marL="0">
              <a:buNone/>
            </a:pPr>
            <a:r>
              <a:rPr lang="en-US" sz="1800" b="1" dirty="0">
                <a:solidFill>
                  <a:srgbClr val="0E1330"/>
                </a:solidFill>
              </a:rPr>
              <a:t>QUBO</a:t>
            </a:r>
            <a:endParaRPr lang="en-US" sz="1800" dirty="0"/>
          </a:p>
        </p:txBody>
      </p:sp>
      <p:sp>
        <p:nvSpPr>
          <p:cNvPr id="20" name="Step text 3"/>
          <p:cNvSpPr txBox="1"/>
          <p:nvPr/>
        </p:nvSpPr>
        <p:spPr>
          <a:xfrm>
            <a:off x="5248656" y="3090672"/>
            <a:ext cx="1645920" cy="822960"/>
          </a:xfrm>
          <a:prstGeom prst="rect">
            <a:avLst/>
          </a:prstGeom>
          <a:noFill/>
          <a:ln/>
        </p:spPr>
        <p:txBody>
          <a:bodyPr wrap="square" lIns="0" tIns="0" rIns="0" bIns="0" rtlCol="0" anchor="t"/>
          <a:lstStyle/>
          <a:p>
            <a:pPr indent="0" marL="0">
              <a:buNone/>
            </a:pPr>
            <a:r>
              <a:rPr lang="en-US" sz="1300" dirty="0">
                <a:solidFill>
                  <a:srgbClr val="4B5165"/>
                </a:solidFill>
              </a:rPr>
              <a:t>Cost = Σ squared queues + switching penalty</a:t>
            </a:r>
            <a:endParaRPr lang="en-US" sz="1300" dirty="0"/>
          </a:p>
        </p:txBody>
      </p:sp>
      <p:sp>
        <p:nvSpPr>
          <p:cNvPr id="21" name="Arrow 3"/>
          <p:cNvSpPr/>
          <p:nvPr/>
        </p:nvSpPr>
        <p:spPr>
          <a:xfrm>
            <a:off x="7141464" y="2788920"/>
            <a:ext cx="118872" cy="237744"/>
          </a:xfrm>
          <a:prstGeom prst="chevron">
            <a:avLst/>
          </a:prstGeom>
          <a:solidFill>
            <a:srgbClr val="B7BCCB"/>
          </a:solidFill>
          <a:ln/>
        </p:spPr>
      </p:sp>
      <p:sp>
        <p:nvSpPr>
          <p:cNvPr id="22" name="Step card 4"/>
          <p:cNvSpPr/>
          <p:nvPr/>
        </p:nvSpPr>
        <p:spPr>
          <a:xfrm>
            <a:off x="7324344" y="1828800"/>
            <a:ext cx="2011680" cy="2148840"/>
          </a:xfrm>
          <a:prstGeom prst="roundRect">
            <a:avLst>
              <a:gd name="adj" fmla="val 5455"/>
            </a:avLst>
          </a:prstGeom>
          <a:solidFill>
            <a:srgbClr val="F3F4F8"/>
          </a:solidFill>
          <a:ln w="9525">
            <a:solidFill>
              <a:srgbClr val="E3E5EE"/>
            </a:solidFill>
            <a:prstDash val="solid"/>
          </a:ln>
        </p:spPr>
      </p:sp>
      <p:sp>
        <p:nvSpPr>
          <p:cNvPr id="23" name="Step 4 circle"/>
          <p:cNvSpPr/>
          <p:nvPr/>
        </p:nvSpPr>
        <p:spPr>
          <a:xfrm>
            <a:off x="7507224" y="2029968"/>
            <a:ext cx="566928" cy="566928"/>
          </a:xfrm>
          <a:prstGeom prst="ellipse">
            <a:avLst/>
          </a:prstGeom>
          <a:solidFill>
            <a:srgbClr val="7C3AED"/>
          </a:solidFill>
          <a:ln/>
        </p:spPr>
      </p:sp>
      <p:pic>
        <p:nvPicPr>
          <p:cNvPr id="24" name="Step 4 icon" descr="preencoded.png">    </p:cNvPr>
          <p:cNvPicPr>
            <a:picLocks noChangeAspect="1"/>
          </p:cNvPicPr>
          <p:nvPr/>
        </p:nvPicPr>
        <p:blipFill>
          <a:blip r:embed="rId4"/>
          <a:stretch>
            <a:fillRect/>
          </a:stretch>
        </p:blipFill>
        <p:spPr>
          <a:xfrm>
            <a:off x="7648956" y="2171700"/>
            <a:ext cx="283464" cy="283464"/>
          </a:xfrm>
          <a:prstGeom prst="rect">
            <a:avLst/>
          </a:prstGeom>
        </p:spPr>
      </p:pic>
      <p:sp>
        <p:nvSpPr>
          <p:cNvPr id="25" name="Step title 4"/>
          <p:cNvSpPr txBox="1"/>
          <p:nvPr/>
        </p:nvSpPr>
        <p:spPr>
          <a:xfrm>
            <a:off x="7507224" y="2697480"/>
            <a:ext cx="1645920" cy="384048"/>
          </a:xfrm>
          <a:prstGeom prst="rect">
            <a:avLst/>
          </a:prstGeom>
          <a:noFill/>
          <a:ln/>
        </p:spPr>
        <p:txBody>
          <a:bodyPr wrap="square" lIns="0" tIns="0" rIns="0" bIns="0" rtlCol="0" anchor="ctr"/>
          <a:lstStyle/>
          <a:p>
            <a:pPr indent="0" marL="0">
              <a:buNone/>
            </a:pPr>
            <a:r>
              <a:rPr lang="en-US" sz="1800" b="1" dirty="0">
                <a:solidFill>
                  <a:srgbClr val="0E1330"/>
                </a:solidFill>
              </a:rPr>
              <a:t>QAOA</a:t>
            </a:r>
            <a:endParaRPr lang="en-US" sz="1800" dirty="0"/>
          </a:p>
        </p:txBody>
      </p:sp>
      <p:sp>
        <p:nvSpPr>
          <p:cNvPr id="26" name="Step text 4"/>
          <p:cNvSpPr txBox="1"/>
          <p:nvPr/>
        </p:nvSpPr>
        <p:spPr>
          <a:xfrm>
            <a:off x="7507224" y="3090672"/>
            <a:ext cx="1645920" cy="822960"/>
          </a:xfrm>
          <a:prstGeom prst="rect">
            <a:avLst/>
          </a:prstGeom>
          <a:noFill/>
          <a:ln/>
        </p:spPr>
        <p:txBody>
          <a:bodyPr wrap="square" lIns="0" tIns="0" rIns="0" bIns="0" rtlCol="0" anchor="t"/>
          <a:lstStyle/>
          <a:p>
            <a:pPr indent="0" marL="0">
              <a:buNone/>
            </a:pPr>
            <a:r>
              <a:rPr lang="en-US" sz="1300" dirty="0">
                <a:solidFill>
                  <a:srgbClr val="4B5165"/>
                </a:solidFill>
              </a:rPr>
              <a:t>Ising Hamiltonian minimised by a Qiskit circuit</a:t>
            </a:r>
            <a:endParaRPr lang="en-US" sz="1300" dirty="0"/>
          </a:p>
        </p:txBody>
      </p:sp>
      <p:sp>
        <p:nvSpPr>
          <p:cNvPr id="27" name="Arrow 4"/>
          <p:cNvSpPr/>
          <p:nvPr/>
        </p:nvSpPr>
        <p:spPr>
          <a:xfrm>
            <a:off x="9400032" y="2788920"/>
            <a:ext cx="118872" cy="237744"/>
          </a:xfrm>
          <a:prstGeom prst="chevron">
            <a:avLst/>
          </a:prstGeom>
          <a:solidFill>
            <a:srgbClr val="B7BCCB"/>
          </a:solidFill>
          <a:ln/>
        </p:spPr>
      </p:sp>
      <p:sp>
        <p:nvSpPr>
          <p:cNvPr id="28" name="Step card 5"/>
          <p:cNvSpPr/>
          <p:nvPr/>
        </p:nvSpPr>
        <p:spPr>
          <a:xfrm>
            <a:off x="9582912" y="1828800"/>
            <a:ext cx="2011680" cy="2148840"/>
          </a:xfrm>
          <a:prstGeom prst="roundRect">
            <a:avLst>
              <a:gd name="adj" fmla="val 5455"/>
            </a:avLst>
          </a:prstGeom>
          <a:solidFill>
            <a:srgbClr val="F3F4F8"/>
          </a:solidFill>
          <a:ln w="9525">
            <a:solidFill>
              <a:srgbClr val="E3E5EE"/>
            </a:solidFill>
            <a:prstDash val="solid"/>
          </a:ln>
        </p:spPr>
      </p:sp>
      <p:sp>
        <p:nvSpPr>
          <p:cNvPr id="29" name="Step 5 circle"/>
          <p:cNvSpPr/>
          <p:nvPr/>
        </p:nvSpPr>
        <p:spPr>
          <a:xfrm>
            <a:off x="9765792" y="2029968"/>
            <a:ext cx="566928" cy="566928"/>
          </a:xfrm>
          <a:prstGeom prst="ellipse">
            <a:avLst/>
          </a:prstGeom>
          <a:solidFill>
            <a:srgbClr val="2BB673"/>
          </a:solidFill>
          <a:ln/>
        </p:spPr>
      </p:sp>
      <p:pic>
        <p:nvPicPr>
          <p:cNvPr id="30" name="Step 5 icon" descr="preencoded.png">    </p:cNvPr>
          <p:cNvPicPr>
            <a:picLocks noChangeAspect="1"/>
          </p:cNvPicPr>
          <p:nvPr/>
        </p:nvPicPr>
        <p:blipFill>
          <a:blip r:embed="rId5"/>
          <a:stretch>
            <a:fillRect/>
          </a:stretch>
        </p:blipFill>
        <p:spPr>
          <a:xfrm>
            <a:off x="9907524" y="2171700"/>
            <a:ext cx="283464" cy="283464"/>
          </a:xfrm>
          <a:prstGeom prst="rect">
            <a:avLst/>
          </a:prstGeom>
        </p:spPr>
      </p:pic>
      <p:sp>
        <p:nvSpPr>
          <p:cNvPr id="31" name="Step title 5"/>
          <p:cNvSpPr txBox="1"/>
          <p:nvPr/>
        </p:nvSpPr>
        <p:spPr>
          <a:xfrm>
            <a:off x="9765792" y="2697480"/>
            <a:ext cx="1645920" cy="384048"/>
          </a:xfrm>
          <a:prstGeom prst="rect">
            <a:avLst/>
          </a:prstGeom>
          <a:noFill/>
          <a:ln/>
        </p:spPr>
        <p:txBody>
          <a:bodyPr wrap="square" lIns="0" tIns="0" rIns="0" bIns="0" rtlCol="0" anchor="ctr"/>
          <a:lstStyle/>
          <a:p>
            <a:pPr indent="0" marL="0">
              <a:buNone/>
            </a:pPr>
            <a:r>
              <a:rPr lang="en-US" sz="1800" b="1" dirty="0">
                <a:solidFill>
                  <a:srgbClr val="0E1330"/>
                </a:solidFill>
              </a:rPr>
              <a:t>Apply</a:t>
            </a:r>
            <a:endParaRPr lang="en-US" sz="1800" dirty="0"/>
          </a:p>
        </p:txBody>
      </p:sp>
      <p:sp>
        <p:nvSpPr>
          <p:cNvPr id="32" name="Step text 5"/>
          <p:cNvSpPr txBox="1"/>
          <p:nvPr/>
        </p:nvSpPr>
        <p:spPr>
          <a:xfrm>
            <a:off x="9765792" y="3090672"/>
            <a:ext cx="1645920" cy="822960"/>
          </a:xfrm>
          <a:prstGeom prst="rect">
            <a:avLst/>
          </a:prstGeom>
          <a:noFill/>
          <a:ln/>
        </p:spPr>
        <p:txBody>
          <a:bodyPr wrap="square" lIns="0" tIns="0" rIns="0" bIns="0" rtlCol="0" anchor="t"/>
          <a:lstStyle/>
          <a:p>
            <a:pPr indent="0" marL="0">
              <a:buNone/>
            </a:pPr>
            <a:r>
              <a:rPr lang="en-US" sz="1300" dirty="0">
                <a:solidFill>
                  <a:srgbClr val="4B5165"/>
                </a:solidFill>
              </a:rPr>
              <a:t>Best sampled plan runs for 30 s, then re-plan</a:t>
            </a:r>
            <a:endParaRPr lang="en-US" sz="1300" dirty="0"/>
          </a:p>
        </p:txBody>
      </p:sp>
      <p:sp>
        <p:nvSpPr>
          <p:cNvPr id="33" name="Encoding box"/>
          <p:cNvSpPr/>
          <p:nvPr/>
        </p:nvSpPr>
        <p:spPr>
          <a:xfrm>
            <a:off x="548640" y="4297680"/>
            <a:ext cx="5303520" cy="1783080"/>
          </a:xfrm>
          <a:prstGeom prst="roundRect">
            <a:avLst>
              <a:gd name="adj" fmla="val 6154"/>
            </a:avLst>
          </a:prstGeom>
          <a:solidFill>
            <a:srgbClr val="EFE7FB"/>
          </a:solidFill>
          <a:ln w="9525">
            <a:solidFill>
              <a:srgbClr val="EFE7FB"/>
            </a:solidFill>
            <a:prstDash val="solid"/>
          </a:ln>
        </p:spPr>
      </p:sp>
      <p:sp>
        <p:nvSpPr>
          <p:cNvPr id="34" name="Encoding text"/>
          <p:cNvSpPr txBox="1"/>
          <p:nvPr/>
        </p:nvSpPr>
        <p:spPr>
          <a:xfrm>
            <a:off x="822960" y="4434840"/>
            <a:ext cx="4754880" cy="1508760"/>
          </a:xfrm>
          <a:prstGeom prst="rect">
            <a:avLst/>
          </a:prstGeom>
          <a:noFill/>
          <a:ln/>
        </p:spPr>
        <p:txBody>
          <a:bodyPr wrap="square" lIns="0" tIns="0" rIns="0" bIns="0" rtlCol="0" anchor="ctr"/>
          <a:lstStyle/>
          <a:p>
            <a:pPr indent="0" marL="0">
              <a:spcAft>
                <a:spcPts val="600"/>
              </a:spcAft>
              <a:buNone/>
            </a:pPr>
            <a:r>
              <a:rPr lang="en-US" sz="1800" b="1" dirty="0">
                <a:solidFill>
                  <a:srgbClr val="0E1330"/>
                </a:solidFill>
              </a:rPr>
              <a:t>One qubit per signal per 30-s slot</a:t>
            </a:r>
            <a:endParaRPr lang="en-US" sz="1800" dirty="0"/>
          </a:p>
          <a:p>
            <a:pPr indent="0" marL="0">
              <a:spcAft>
                <a:spcPts val="600"/>
              </a:spcAft>
              <a:buNone/>
            </a:pPr>
            <a:r>
              <a:rPr lang="en-US" sz="1600" b="1" dirty="0">
                <a:solidFill>
                  <a:srgbClr val="7C3AED"/>
                </a:solidFill>
              </a:rPr>
              <a:t>|0⟩ = north–south green     |1⟩ = east–west green</a:t>
            </a:r>
            <a:endParaRPr lang="en-US" sz="1800" dirty="0"/>
          </a:p>
          <a:p>
            <a:pPr indent="0" marL="0">
              <a:spcAft>
                <a:spcPts val="600"/>
              </a:spcAft>
              <a:buNone/>
            </a:pPr>
            <a:r>
              <a:rPr lang="en-US" sz="1400" dirty="0">
                <a:solidFill>
                  <a:srgbClr val="4B5165"/>
                </a:solidFill>
              </a:rPr>
              <a:t>4 signals × 2 slots = 8 qubits = 256 plans explored at once</a:t>
            </a:r>
            <a:endParaRPr lang="en-US" sz="1800" dirty="0"/>
          </a:p>
        </p:txBody>
      </p:sp>
      <p:sp>
        <p:nvSpPr>
          <p:cNvPr id="35" name="Cost box"/>
          <p:cNvSpPr/>
          <p:nvPr/>
        </p:nvSpPr>
        <p:spPr>
          <a:xfrm>
            <a:off x="6153912" y="4297680"/>
            <a:ext cx="5477256" cy="1783080"/>
          </a:xfrm>
          <a:prstGeom prst="roundRect">
            <a:avLst>
              <a:gd name="adj" fmla="val 6154"/>
            </a:avLst>
          </a:prstGeom>
          <a:solidFill>
            <a:srgbClr val="F3F4F8"/>
          </a:solidFill>
          <a:ln w="9525">
            <a:solidFill>
              <a:srgbClr val="E3E5EE"/>
            </a:solidFill>
            <a:prstDash val="solid"/>
          </a:ln>
        </p:spPr>
      </p:sp>
      <p:sp>
        <p:nvSpPr>
          <p:cNvPr id="36" name="Cost text"/>
          <p:cNvSpPr txBox="1"/>
          <p:nvPr/>
        </p:nvSpPr>
        <p:spPr>
          <a:xfrm>
            <a:off x="6428232" y="4434840"/>
            <a:ext cx="4937760" cy="1508760"/>
          </a:xfrm>
          <a:prstGeom prst="rect">
            <a:avLst/>
          </a:prstGeom>
          <a:noFill/>
          <a:ln/>
        </p:spPr>
        <p:txBody>
          <a:bodyPr wrap="square" lIns="0" tIns="0" rIns="0" bIns="0" rtlCol="0" anchor="ctr"/>
          <a:lstStyle/>
          <a:p>
            <a:pPr indent="0" marL="0">
              <a:spcAft>
                <a:spcPts val="800"/>
              </a:spcAft>
              <a:buNone/>
            </a:pPr>
            <a:r>
              <a:rPr lang="en-US" sz="1800" b="1" dirty="0">
                <a:solidFill>
                  <a:srgbClr val="0E1330"/>
                </a:solidFill>
              </a:rPr>
              <a:t>E(x) = Σ (Q_NS² + Q_EW²) + w · switches</a:t>
            </a:r>
            <a:endParaRPr lang="en-US" sz="1800" dirty="0"/>
          </a:p>
          <a:p>
            <a:pPr indent="0" marL="0">
              <a:spcAft>
                <a:spcPts val="800"/>
              </a:spcAft>
              <a:buNone/>
            </a:pPr>
            <a:r>
              <a:rPr lang="en-US" sz="1400" dirty="0">
                <a:solidFill>
                  <a:srgbClr val="4B5165"/>
                </a:solidFill>
              </a:rPr>
              <a:t>Squaring the queues couples a signal to its neighbours, so green waves emerge on their own instead of being hand-coded.</a:t>
            </a:r>
            <a:endParaRPr lang="en-US" sz="18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3" type="body" hasCustomPrompt="1"/>
          </p:nvPr>
        </p:nvSpPr>
        <p:spPr>
          <a:xfrm>
            <a:off x="1143000" y="292608"/>
            <a:ext cx="8229600" cy="301752"/>
          </a:xfrm>
          <a:prstGeom prst="rect">
            <a:avLst/>
          </a:prstGeom>
          <a:noFill/>
          <a:ln/>
        </p:spPr>
        <p:txBody>
          <a:bodyPr wrap="square" lIns="0" tIns="0" rIns="0" bIns="0" rtlCol="0" anchor="ctr"/>
          <a:lstStyle/>
          <a:p>
            <a:pPr algn="l" indent="0" marL="0">
              <a:buNone/>
            </a:pPr>
            <a:r>
              <a:rPr lang="en-US" sz="1200" b="1" dirty="0">
                <a:solidFill>
                  <a:srgbClr val="7C3AED"/>
                </a:solidFill>
              </a:rPr>
              <a:t>The quantum circuit</a:t>
            </a:r>
            <a:endParaRPr lang="en-US" sz="1200" dirty="0"/>
          </a:p>
        </p:txBody>
      </p:sp>
      <p:sp>
        <p:nvSpPr>
          <p:cNvPr id="3" name="Text 0"/>
          <p:cNvSpPr/>
          <p:nvPr>
            <p:ph idx="104"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600" b="1" dirty="0">
                <a:solidFill>
                  <a:srgbClr val="0E1330"/>
                </a:solidFill>
                <a:latin typeface="Calibri" pitchFamily="34" charset="0"/>
                <a:ea typeface="Calibri" pitchFamily="34" charset="-122"/>
                <a:cs typeface="Calibri" pitchFamily="34" charset="-120"/>
              </a:rPr>
              <a:t>Cost layer, mixer, measure: one QAOA layer for 4 signals</a:t>
            </a:r>
            <a:endParaRPr lang="en-US" sz="3600" dirty="0"/>
          </a:p>
        </p:txBody>
      </p:sp>
      <p:sp>
        <p:nvSpPr>
          <p:cNvPr id="4" name="Circuit frame"/>
          <p:cNvSpPr/>
          <p:nvPr/>
        </p:nvSpPr>
        <p:spPr>
          <a:xfrm>
            <a:off x="548640" y="1691640"/>
            <a:ext cx="11094415" cy="2834640"/>
          </a:xfrm>
          <a:prstGeom prst="roundRect">
            <a:avLst>
              <a:gd name="adj" fmla="val 3871"/>
            </a:avLst>
          </a:prstGeom>
          <a:solidFill>
            <a:srgbClr val="FFFFFF"/>
          </a:solidFill>
          <a:ln w="9525">
            <a:solidFill>
              <a:srgbClr val="E3E5EE"/>
            </a:solidFill>
            <a:prstDash val="solid"/>
          </a:ln>
        </p:spPr>
      </p:sp>
      <p:pic>
        <p:nvPicPr>
          <p:cNvPr id="5" name="QAOA circuit" descr="QAOA circuit: Hadamards, RZ and RZZ cost gates, RX mixer, measurement">    </p:cNvPr>
          <p:cNvPicPr>
            <a:picLocks noChangeAspect="1"/>
          </p:cNvPicPr>
          <p:nvPr/>
        </p:nvPicPr>
        <p:blipFill>
          <a:blip r:embed="rId1"/>
          <a:stretch>
            <a:fillRect/>
          </a:stretch>
        </p:blipFill>
        <p:spPr>
          <a:xfrm>
            <a:off x="792328" y="1811664"/>
            <a:ext cx="10607040" cy="2594591"/>
          </a:xfrm>
          <a:prstGeom prst="rect">
            <a:avLst/>
          </a:prstGeom>
        </p:spPr>
      </p:pic>
      <p:sp>
        <p:nvSpPr>
          <p:cNvPr id="6" name="Gate card 1"/>
          <p:cNvSpPr/>
          <p:nvPr/>
        </p:nvSpPr>
        <p:spPr>
          <a:xfrm>
            <a:off x="548640" y="4754880"/>
            <a:ext cx="2651760" cy="1371600"/>
          </a:xfrm>
          <a:prstGeom prst="roundRect">
            <a:avLst>
              <a:gd name="adj" fmla="val 8000"/>
            </a:avLst>
          </a:prstGeom>
          <a:solidFill>
            <a:srgbClr val="F3F4F8"/>
          </a:solidFill>
          <a:ln w="9525">
            <a:solidFill>
              <a:srgbClr val="E3E5EE"/>
            </a:solidFill>
            <a:prstDash val="solid"/>
          </a:ln>
        </p:spPr>
      </p:sp>
      <p:sp>
        <p:nvSpPr>
          <p:cNvPr id="7" name="Gate dot 1"/>
          <p:cNvSpPr/>
          <p:nvPr/>
        </p:nvSpPr>
        <p:spPr>
          <a:xfrm>
            <a:off x="749808" y="4937760"/>
            <a:ext cx="182880" cy="182880"/>
          </a:xfrm>
          <a:prstGeom prst="ellipse">
            <a:avLst/>
          </a:prstGeom>
          <a:solidFill>
            <a:srgbClr val="3B82F6"/>
          </a:solidFill>
          <a:ln/>
        </p:spPr>
      </p:sp>
      <p:sp>
        <p:nvSpPr>
          <p:cNvPr id="8" name="Gate name 1"/>
          <p:cNvSpPr txBox="1"/>
          <p:nvPr/>
        </p:nvSpPr>
        <p:spPr>
          <a:xfrm>
            <a:off x="1024128" y="4846320"/>
            <a:ext cx="2011680" cy="365760"/>
          </a:xfrm>
          <a:prstGeom prst="rect">
            <a:avLst/>
          </a:prstGeom>
          <a:noFill/>
          <a:ln/>
        </p:spPr>
        <p:txBody>
          <a:bodyPr wrap="square" lIns="0" tIns="0" rIns="0" bIns="0" rtlCol="0" anchor="ctr"/>
          <a:lstStyle/>
          <a:p>
            <a:pPr indent="0" marL="0">
              <a:buNone/>
            </a:pPr>
            <a:r>
              <a:rPr lang="en-US" sz="1700" b="1" dirty="0">
                <a:solidFill>
                  <a:srgbClr val="0E1330"/>
                </a:solidFill>
              </a:rPr>
              <a:t>H</a:t>
            </a:r>
            <a:endParaRPr lang="en-US" sz="1700" dirty="0"/>
          </a:p>
        </p:txBody>
      </p:sp>
      <p:sp>
        <p:nvSpPr>
          <p:cNvPr id="9" name="Gate text 1"/>
          <p:cNvSpPr txBox="1"/>
          <p:nvPr/>
        </p:nvSpPr>
        <p:spPr>
          <a:xfrm>
            <a:off x="749808" y="5257800"/>
            <a:ext cx="2249424" cy="777240"/>
          </a:xfrm>
          <a:prstGeom prst="rect">
            <a:avLst/>
          </a:prstGeom>
          <a:noFill/>
          <a:ln/>
        </p:spPr>
        <p:txBody>
          <a:bodyPr wrap="square" lIns="0" tIns="0" rIns="0" bIns="0" rtlCol="0" anchor="t"/>
          <a:lstStyle/>
          <a:p>
            <a:pPr indent="0" marL="0">
              <a:buNone/>
            </a:pPr>
            <a:r>
              <a:rPr lang="en-US" sz="1300" dirty="0">
                <a:solidFill>
                  <a:srgbClr val="4B5165"/>
                </a:solidFill>
              </a:rPr>
              <a:t>Superposition of every possible plan</a:t>
            </a:r>
            <a:endParaRPr lang="en-US" sz="1300" dirty="0"/>
          </a:p>
        </p:txBody>
      </p:sp>
      <p:sp>
        <p:nvSpPr>
          <p:cNvPr id="10" name="Gate card 2"/>
          <p:cNvSpPr/>
          <p:nvPr/>
        </p:nvSpPr>
        <p:spPr>
          <a:xfrm>
            <a:off x="3392424" y="4754880"/>
            <a:ext cx="2651760" cy="1371600"/>
          </a:xfrm>
          <a:prstGeom prst="roundRect">
            <a:avLst>
              <a:gd name="adj" fmla="val 8000"/>
            </a:avLst>
          </a:prstGeom>
          <a:solidFill>
            <a:srgbClr val="F3F4F8"/>
          </a:solidFill>
          <a:ln w="9525">
            <a:solidFill>
              <a:srgbClr val="E3E5EE"/>
            </a:solidFill>
            <a:prstDash val="solid"/>
          </a:ln>
        </p:spPr>
      </p:sp>
      <p:sp>
        <p:nvSpPr>
          <p:cNvPr id="11" name="Gate dot 2"/>
          <p:cNvSpPr/>
          <p:nvPr/>
        </p:nvSpPr>
        <p:spPr>
          <a:xfrm>
            <a:off x="3593592" y="4937760"/>
            <a:ext cx="182880" cy="182880"/>
          </a:xfrm>
          <a:prstGeom prst="ellipse">
            <a:avLst/>
          </a:prstGeom>
          <a:solidFill>
            <a:srgbClr val="7C3AED"/>
          </a:solidFill>
          <a:ln/>
        </p:spPr>
      </p:sp>
      <p:sp>
        <p:nvSpPr>
          <p:cNvPr id="12" name="Gate name 2"/>
          <p:cNvSpPr txBox="1"/>
          <p:nvPr/>
        </p:nvSpPr>
        <p:spPr>
          <a:xfrm>
            <a:off x="3867912" y="4846320"/>
            <a:ext cx="2011680" cy="365760"/>
          </a:xfrm>
          <a:prstGeom prst="rect">
            <a:avLst/>
          </a:prstGeom>
          <a:noFill/>
          <a:ln/>
        </p:spPr>
        <p:txBody>
          <a:bodyPr wrap="square" lIns="0" tIns="0" rIns="0" bIns="0" rtlCol="0" anchor="ctr"/>
          <a:lstStyle/>
          <a:p>
            <a:pPr indent="0" marL="0">
              <a:buNone/>
            </a:pPr>
            <a:r>
              <a:rPr lang="en-US" sz="1700" b="1" dirty="0">
                <a:solidFill>
                  <a:srgbClr val="0E1330"/>
                </a:solidFill>
              </a:rPr>
              <a:t>RZ · RZZ (γ)</a:t>
            </a:r>
            <a:endParaRPr lang="en-US" sz="1700" dirty="0"/>
          </a:p>
        </p:txBody>
      </p:sp>
      <p:sp>
        <p:nvSpPr>
          <p:cNvPr id="13" name="Gate text 2"/>
          <p:cNvSpPr txBox="1"/>
          <p:nvPr/>
        </p:nvSpPr>
        <p:spPr>
          <a:xfrm>
            <a:off x="3593592" y="5257800"/>
            <a:ext cx="2249424" cy="777240"/>
          </a:xfrm>
          <a:prstGeom prst="rect">
            <a:avLst/>
          </a:prstGeom>
          <a:noFill/>
          <a:ln/>
        </p:spPr>
        <p:txBody>
          <a:bodyPr wrap="square" lIns="0" tIns="0" rIns="0" bIns="0" rtlCol="0" anchor="t"/>
          <a:lstStyle/>
          <a:p>
            <a:pPr indent="0" marL="0">
              <a:buNone/>
            </a:pPr>
            <a:r>
              <a:rPr lang="en-US" sz="1300" dirty="0">
                <a:solidFill>
                  <a:srgbClr val="4B5165"/>
                </a:solidFill>
              </a:rPr>
              <a:t>Cost: each signal's queue pressure, plus couplings to neighbours and next slot</a:t>
            </a:r>
            <a:endParaRPr lang="en-US" sz="1300" dirty="0"/>
          </a:p>
        </p:txBody>
      </p:sp>
      <p:sp>
        <p:nvSpPr>
          <p:cNvPr id="14" name="Gate card 3"/>
          <p:cNvSpPr/>
          <p:nvPr/>
        </p:nvSpPr>
        <p:spPr>
          <a:xfrm>
            <a:off x="6236208" y="4754880"/>
            <a:ext cx="2651760" cy="1371600"/>
          </a:xfrm>
          <a:prstGeom prst="roundRect">
            <a:avLst>
              <a:gd name="adj" fmla="val 8000"/>
            </a:avLst>
          </a:prstGeom>
          <a:solidFill>
            <a:srgbClr val="F3F4F8"/>
          </a:solidFill>
          <a:ln w="9525">
            <a:solidFill>
              <a:srgbClr val="E3E5EE"/>
            </a:solidFill>
            <a:prstDash val="solid"/>
          </a:ln>
        </p:spPr>
      </p:sp>
      <p:sp>
        <p:nvSpPr>
          <p:cNvPr id="15" name="Gate dot 3"/>
          <p:cNvSpPr/>
          <p:nvPr/>
        </p:nvSpPr>
        <p:spPr>
          <a:xfrm>
            <a:off x="6437376" y="4937760"/>
            <a:ext cx="182880" cy="182880"/>
          </a:xfrm>
          <a:prstGeom prst="ellipse">
            <a:avLst/>
          </a:prstGeom>
          <a:solidFill>
            <a:srgbClr val="F5A524"/>
          </a:solidFill>
          <a:ln/>
        </p:spPr>
      </p:sp>
      <p:sp>
        <p:nvSpPr>
          <p:cNvPr id="16" name="Gate name 3"/>
          <p:cNvSpPr txBox="1"/>
          <p:nvPr/>
        </p:nvSpPr>
        <p:spPr>
          <a:xfrm>
            <a:off x="6711696" y="4846320"/>
            <a:ext cx="2011680" cy="365760"/>
          </a:xfrm>
          <a:prstGeom prst="rect">
            <a:avLst/>
          </a:prstGeom>
          <a:noFill/>
          <a:ln/>
        </p:spPr>
        <p:txBody>
          <a:bodyPr wrap="square" lIns="0" tIns="0" rIns="0" bIns="0" rtlCol="0" anchor="ctr"/>
          <a:lstStyle/>
          <a:p>
            <a:pPr indent="0" marL="0">
              <a:buNone/>
            </a:pPr>
            <a:r>
              <a:rPr lang="en-US" sz="1700" b="1" dirty="0">
                <a:solidFill>
                  <a:srgbClr val="0E1330"/>
                </a:solidFill>
              </a:rPr>
              <a:t>RX (β)</a:t>
            </a:r>
            <a:endParaRPr lang="en-US" sz="1700" dirty="0"/>
          </a:p>
        </p:txBody>
      </p:sp>
      <p:sp>
        <p:nvSpPr>
          <p:cNvPr id="17" name="Gate text 3"/>
          <p:cNvSpPr txBox="1"/>
          <p:nvPr/>
        </p:nvSpPr>
        <p:spPr>
          <a:xfrm>
            <a:off x="6437376" y="5257800"/>
            <a:ext cx="2249424" cy="777240"/>
          </a:xfrm>
          <a:prstGeom prst="rect">
            <a:avLst/>
          </a:prstGeom>
          <a:noFill/>
          <a:ln/>
        </p:spPr>
        <p:txBody>
          <a:bodyPr wrap="square" lIns="0" tIns="0" rIns="0" bIns="0" rtlCol="0" anchor="t"/>
          <a:lstStyle/>
          <a:p>
            <a:pPr indent="0" marL="0">
              <a:buNone/>
            </a:pPr>
            <a:r>
              <a:rPr lang="en-US" sz="1300" dirty="0">
                <a:solidFill>
                  <a:srgbClr val="4B5165"/>
                </a:solidFill>
              </a:rPr>
              <a:t>Mixer: lets probability move between plans</a:t>
            </a:r>
            <a:endParaRPr lang="en-US" sz="1300" dirty="0"/>
          </a:p>
        </p:txBody>
      </p:sp>
      <p:sp>
        <p:nvSpPr>
          <p:cNvPr id="18" name="Gate card 4"/>
          <p:cNvSpPr/>
          <p:nvPr/>
        </p:nvSpPr>
        <p:spPr>
          <a:xfrm>
            <a:off x="9079992" y="4754880"/>
            <a:ext cx="2651760" cy="1371600"/>
          </a:xfrm>
          <a:prstGeom prst="roundRect">
            <a:avLst>
              <a:gd name="adj" fmla="val 8000"/>
            </a:avLst>
          </a:prstGeom>
          <a:solidFill>
            <a:srgbClr val="F3F4F8"/>
          </a:solidFill>
          <a:ln w="9525">
            <a:solidFill>
              <a:srgbClr val="E3E5EE"/>
            </a:solidFill>
            <a:prstDash val="solid"/>
          </a:ln>
        </p:spPr>
      </p:sp>
      <p:sp>
        <p:nvSpPr>
          <p:cNvPr id="19" name="Gate dot 4"/>
          <p:cNvSpPr/>
          <p:nvPr/>
        </p:nvSpPr>
        <p:spPr>
          <a:xfrm>
            <a:off x="9281160" y="4937760"/>
            <a:ext cx="182880" cy="182880"/>
          </a:xfrm>
          <a:prstGeom prst="ellipse">
            <a:avLst/>
          </a:prstGeom>
          <a:solidFill>
            <a:srgbClr val="2BB673"/>
          </a:solidFill>
          <a:ln/>
        </p:spPr>
      </p:sp>
      <p:sp>
        <p:nvSpPr>
          <p:cNvPr id="20" name="Gate name 4"/>
          <p:cNvSpPr txBox="1"/>
          <p:nvPr/>
        </p:nvSpPr>
        <p:spPr>
          <a:xfrm>
            <a:off x="9555480" y="4846320"/>
            <a:ext cx="2011680" cy="365760"/>
          </a:xfrm>
          <a:prstGeom prst="rect">
            <a:avLst/>
          </a:prstGeom>
          <a:noFill/>
          <a:ln/>
        </p:spPr>
        <p:txBody>
          <a:bodyPr wrap="square" lIns="0" tIns="0" rIns="0" bIns="0" rtlCol="0" anchor="ctr"/>
          <a:lstStyle/>
          <a:p>
            <a:pPr indent="0" marL="0">
              <a:buNone/>
            </a:pPr>
            <a:r>
              <a:rPr lang="en-US" sz="1700" b="1" dirty="0">
                <a:solidFill>
                  <a:srgbClr val="0E1330"/>
                </a:solidFill>
              </a:rPr>
              <a:t>Measure</a:t>
            </a:r>
            <a:endParaRPr lang="en-US" sz="1700" dirty="0"/>
          </a:p>
        </p:txBody>
      </p:sp>
      <p:sp>
        <p:nvSpPr>
          <p:cNvPr id="21" name="Gate text 4"/>
          <p:cNvSpPr txBox="1"/>
          <p:nvPr/>
        </p:nvSpPr>
        <p:spPr>
          <a:xfrm>
            <a:off x="9281160" y="5257800"/>
            <a:ext cx="2249424" cy="777240"/>
          </a:xfrm>
          <a:prstGeom prst="rect">
            <a:avLst/>
          </a:prstGeom>
          <a:noFill/>
          <a:ln/>
        </p:spPr>
        <p:txBody>
          <a:bodyPr wrap="square" lIns="0" tIns="0" rIns="0" bIns="0" rtlCol="0" anchor="t"/>
          <a:lstStyle/>
          <a:p>
            <a:pPr indent="0" marL="0">
              <a:buNone/>
            </a:pPr>
            <a:r>
              <a:rPr lang="en-US" sz="1300" dirty="0">
                <a:solidFill>
                  <a:srgbClr val="4B5165"/>
                </a:solidFill>
              </a:rPr>
              <a:t>Sample 1024 shots, keep the cheapest plan</a:t>
            </a:r>
            <a:endParaRPr lang="en-US" sz="13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3" type="body" hasCustomPrompt="1"/>
          </p:nvPr>
        </p:nvSpPr>
        <p:spPr>
          <a:xfrm>
            <a:off x="1143000" y="292608"/>
            <a:ext cx="8229600" cy="301752"/>
          </a:xfrm>
          <a:prstGeom prst="rect">
            <a:avLst/>
          </a:prstGeom>
          <a:noFill/>
          <a:ln/>
        </p:spPr>
        <p:txBody>
          <a:bodyPr wrap="square" lIns="0" tIns="0" rIns="0" bIns="0" rtlCol="0" anchor="ctr"/>
          <a:lstStyle/>
          <a:p>
            <a:pPr algn="l" indent="0" marL="0">
              <a:buNone/>
            </a:pPr>
            <a:r>
              <a:rPr lang="en-US" sz="1200" b="1" dirty="0">
                <a:solidFill>
                  <a:srgbClr val="7C3AED"/>
                </a:solidFill>
              </a:rPr>
              <a:t>Results · 30 min of simulated traffic, 3 seeds</a:t>
            </a:r>
            <a:endParaRPr lang="en-US" sz="1200" dirty="0"/>
          </a:p>
        </p:txBody>
      </p:sp>
      <p:sp>
        <p:nvSpPr>
          <p:cNvPr id="3" name="Text 0"/>
          <p:cNvSpPr/>
          <p:nvPr>
            <p:ph idx="104"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600" b="1" dirty="0">
                <a:solidFill>
                  <a:srgbClr val="0E1330"/>
                </a:solidFill>
                <a:latin typeface="Calibri" pitchFamily="34" charset="0"/>
                <a:ea typeface="Calibri" pitchFamily="34" charset="-122"/>
                <a:cs typeface="Calibri" pitchFamily="34" charset="-120"/>
              </a:rPr>
              <a:t>QAOA control cuts rush-hour waiting by 64%</a:t>
            </a:r>
            <a:endParaRPr lang="en-US" sz="3600" dirty="0"/>
          </a:p>
        </p:txBody>
      </p:sp>
      <p:graphicFrame>
        <p:nvGraphicFramePr>
          <p:cNvPr id="4" name="Average wait chart" descr=""/>
          <p:cNvGraphicFramePr/>
          <p:nvPr/>
        </p:nvGraphicFramePr>
        <p:xfrm>
          <a:off x="548640" y="1691640"/>
          <a:ext cx="6949440" cy="4480560"/>
        </p:xfrm>
        <a:graphic xmlns:a="http://schemas.openxmlformats.org/drawingml/2006/main">
          <a:graphicData uri="http://schemas.openxmlformats.org/drawingml/2006/chart">
            <c:chart xmlns:c="http://schemas.openxmlformats.org/drawingml/2006/chart" r:id="rId1"/>
          </a:graphicData>
        </a:graphic>
      </p:graphicFrame>
      <p:sp>
        <p:nvSpPr>
          <p:cNvPr id="5" name="Result stat 1"/>
          <p:cNvSpPr/>
          <p:nvPr/>
        </p:nvSpPr>
        <p:spPr>
          <a:xfrm>
            <a:off x="7772400" y="1691640"/>
            <a:ext cx="3867912" cy="1005840"/>
          </a:xfrm>
          <a:prstGeom prst="roundRect">
            <a:avLst>
              <a:gd name="adj" fmla="val 10909"/>
            </a:avLst>
          </a:prstGeom>
          <a:solidFill>
            <a:srgbClr val="F3F4F8"/>
          </a:solidFill>
          <a:ln w="9525">
            <a:solidFill>
              <a:srgbClr val="E3E5EE"/>
            </a:solidFill>
            <a:prstDash val="solid"/>
          </a:ln>
        </p:spPr>
      </p:sp>
      <p:sp>
        <p:nvSpPr>
          <p:cNvPr id="6" name="Result value 1"/>
          <p:cNvSpPr txBox="1"/>
          <p:nvPr/>
        </p:nvSpPr>
        <p:spPr>
          <a:xfrm>
            <a:off x="8001000" y="1764792"/>
            <a:ext cx="3474720" cy="502920"/>
          </a:xfrm>
          <a:prstGeom prst="rect">
            <a:avLst/>
          </a:prstGeom>
          <a:noFill/>
          <a:ln/>
        </p:spPr>
        <p:txBody>
          <a:bodyPr wrap="square" lIns="0" tIns="0" rIns="0" bIns="0" rtlCol="0" anchor="ctr"/>
          <a:lstStyle/>
          <a:p>
            <a:pPr indent="0" marL="0">
              <a:buNone/>
            </a:pPr>
            <a:r>
              <a:rPr lang="en-US" sz="2800" b="1" dirty="0">
                <a:solidFill>
                  <a:srgbClr val="2BB673"/>
                </a:solidFill>
              </a:rPr>
              <a:t>−64%</a:t>
            </a:r>
            <a:endParaRPr lang="en-US" sz="2800" dirty="0"/>
          </a:p>
        </p:txBody>
      </p:sp>
      <p:sp>
        <p:nvSpPr>
          <p:cNvPr id="7" name="Result label 1"/>
          <p:cNvSpPr txBox="1"/>
          <p:nvPr/>
        </p:nvSpPr>
        <p:spPr>
          <a:xfrm>
            <a:off x="8001000" y="2258568"/>
            <a:ext cx="3474720" cy="384048"/>
          </a:xfrm>
          <a:prstGeom prst="rect">
            <a:avLst/>
          </a:prstGeom>
          <a:noFill/>
          <a:ln/>
        </p:spPr>
        <p:txBody>
          <a:bodyPr wrap="square" lIns="0" tIns="0" rIns="0" bIns="0" rtlCol="0" anchor="t"/>
          <a:lstStyle/>
          <a:p>
            <a:pPr indent="0" marL="0">
              <a:buNone/>
            </a:pPr>
            <a:r>
              <a:rPr lang="en-US" sz="1200" dirty="0">
                <a:solidFill>
                  <a:srgbClr val="4B5165"/>
                </a:solidFill>
              </a:rPr>
              <a:t>wait vs fixed timers at rush hour (83.5 s → 30.2 s)</a:t>
            </a:r>
            <a:endParaRPr lang="en-US" sz="1200" dirty="0"/>
          </a:p>
        </p:txBody>
      </p:sp>
      <p:sp>
        <p:nvSpPr>
          <p:cNvPr id="8" name="Result stat 2"/>
          <p:cNvSpPr/>
          <p:nvPr/>
        </p:nvSpPr>
        <p:spPr>
          <a:xfrm>
            <a:off x="7772400" y="2825496"/>
            <a:ext cx="3867912" cy="1005840"/>
          </a:xfrm>
          <a:prstGeom prst="roundRect">
            <a:avLst>
              <a:gd name="adj" fmla="val 10909"/>
            </a:avLst>
          </a:prstGeom>
          <a:solidFill>
            <a:srgbClr val="F3F4F8"/>
          </a:solidFill>
          <a:ln w="9525">
            <a:solidFill>
              <a:srgbClr val="E3E5EE"/>
            </a:solidFill>
            <a:prstDash val="solid"/>
          </a:ln>
        </p:spPr>
      </p:sp>
      <p:sp>
        <p:nvSpPr>
          <p:cNvPr id="9" name="Result value 2"/>
          <p:cNvSpPr txBox="1"/>
          <p:nvPr/>
        </p:nvSpPr>
        <p:spPr>
          <a:xfrm>
            <a:off x="8001000" y="2898648"/>
            <a:ext cx="3474720" cy="502920"/>
          </a:xfrm>
          <a:prstGeom prst="rect">
            <a:avLst/>
          </a:prstGeom>
          <a:noFill/>
          <a:ln/>
        </p:spPr>
        <p:txBody>
          <a:bodyPr wrap="square" lIns="0" tIns="0" rIns="0" bIns="0" rtlCol="0" anchor="ctr"/>
          <a:lstStyle/>
          <a:p>
            <a:pPr indent="0" marL="0">
              <a:buNone/>
            </a:pPr>
            <a:r>
              <a:rPr lang="en-US" sz="2800" b="1" dirty="0">
                <a:solidFill>
                  <a:srgbClr val="7C3AED"/>
                </a:solidFill>
              </a:rPr>
              <a:t>100%</a:t>
            </a:r>
            <a:endParaRPr lang="en-US" sz="2800" dirty="0"/>
          </a:p>
        </p:txBody>
      </p:sp>
      <p:sp>
        <p:nvSpPr>
          <p:cNvPr id="10" name="Result label 2"/>
          <p:cNvSpPr txBox="1"/>
          <p:nvPr/>
        </p:nvSpPr>
        <p:spPr>
          <a:xfrm>
            <a:off x="8001000" y="3392424"/>
            <a:ext cx="3474720" cy="384048"/>
          </a:xfrm>
          <a:prstGeom prst="rect">
            <a:avLst/>
          </a:prstGeom>
          <a:noFill/>
          <a:ln/>
        </p:spPr>
        <p:txBody>
          <a:bodyPr wrap="square" lIns="0" tIns="0" rIns="0" bIns="0" rtlCol="0" anchor="t"/>
          <a:lstStyle/>
          <a:p>
            <a:pPr indent="0" marL="0">
              <a:buNone/>
            </a:pPr>
            <a:r>
              <a:rPr lang="en-US" sz="1200" dirty="0">
                <a:solidFill>
                  <a:srgbClr val="4B5165"/>
                </a:solidFill>
              </a:rPr>
              <a:t>optimal plans found by QAOA up to 12 qubits</a:t>
            </a:r>
            <a:endParaRPr lang="en-US" sz="1200" dirty="0"/>
          </a:p>
        </p:txBody>
      </p:sp>
      <p:sp>
        <p:nvSpPr>
          <p:cNvPr id="11" name="Result stat 3"/>
          <p:cNvSpPr/>
          <p:nvPr/>
        </p:nvSpPr>
        <p:spPr>
          <a:xfrm>
            <a:off x="7772400" y="3959352"/>
            <a:ext cx="3867912" cy="1005840"/>
          </a:xfrm>
          <a:prstGeom prst="roundRect">
            <a:avLst>
              <a:gd name="adj" fmla="val 10909"/>
            </a:avLst>
          </a:prstGeom>
          <a:solidFill>
            <a:srgbClr val="F3F4F8"/>
          </a:solidFill>
          <a:ln w="9525">
            <a:solidFill>
              <a:srgbClr val="E3E5EE"/>
            </a:solidFill>
            <a:prstDash val="solid"/>
          </a:ln>
        </p:spPr>
      </p:sp>
      <p:sp>
        <p:nvSpPr>
          <p:cNvPr id="12" name="Result value 3"/>
          <p:cNvSpPr txBox="1"/>
          <p:nvPr/>
        </p:nvSpPr>
        <p:spPr>
          <a:xfrm>
            <a:off x="8001000" y="4032504"/>
            <a:ext cx="3474720" cy="502920"/>
          </a:xfrm>
          <a:prstGeom prst="rect">
            <a:avLst/>
          </a:prstGeom>
          <a:noFill/>
          <a:ln/>
        </p:spPr>
        <p:txBody>
          <a:bodyPr wrap="square" lIns="0" tIns="0" rIns="0" bIns="0" rtlCol="0" anchor="ctr"/>
          <a:lstStyle/>
          <a:p>
            <a:pPr indent="0" marL="0">
              <a:buNone/>
            </a:pPr>
            <a:r>
              <a:rPr lang="en-US" sz="2800" b="1" dirty="0">
                <a:solidFill>
                  <a:srgbClr val="3B82F6"/>
                </a:solidFill>
              </a:rPr>
              <a:t>0.85 → 0.93</a:t>
            </a:r>
            <a:endParaRPr lang="en-US" sz="2800" dirty="0"/>
          </a:p>
        </p:txBody>
      </p:sp>
      <p:sp>
        <p:nvSpPr>
          <p:cNvPr id="13" name="Result label 3"/>
          <p:cNvSpPr txBox="1"/>
          <p:nvPr/>
        </p:nvSpPr>
        <p:spPr>
          <a:xfrm>
            <a:off x="8001000" y="4526280"/>
            <a:ext cx="3474720" cy="384048"/>
          </a:xfrm>
          <a:prstGeom prst="rect">
            <a:avLst/>
          </a:prstGeom>
          <a:noFill/>
          <a:ln/>
        </p:spPr>
        <p:txBody>
          <a:bodyPr wrap="square" lIns="0" tIns="0" rIns="0" bIns="0" rtlCol="0" anchor="t"/>
          <a:lstStyle/>
          <a:p>
            <a:pPr indent="0" marL="0">
              <a:buNone/>
            </a:pPr>
            <a:r>
              <a:rPr lang="en-US" sz="1200" dirty="0">
                <a:solidFill>
                  <a:srgbClr val="4B5165"/>
                </a:solidFill>
              </a:rPr>
              <a:t>approximation ratio as depth p goes 1 → 4</a:t>
            </a:r>
            <a:endParaRPr lang="en-US" sz="1200" dirty="0"/>
          </a:p>
        </p:txBody>
      </p:sp>
      <p:sp>
        <p:nvSpPr>
          <p:cNvPr id="14" name="Result stat 4"/>
          <p:cNvSpPr/>
          <p:nvPr/>
        </p:nvSpPr>
        <p:spPr>
          <a:xfrm>
            <a:off x="7772400" y="5093208"/>
            <a:ext cx="3867912" cy="1005840"/>
          </a:xfrm>
          <a:prstGeom prst="roundRect">
            <a:avLst>
              <a:gd name="adj" fmla="val 10909"/>
            </a:avLst>
          </a:prstGeom>
          <a:solidFill>
            <a:srgbClr val="F3F4F8"/>
          </a:solidFill>
          <a:ln w="9525">
            <a:solidFill>
              <a:srgbClr val="E3E5EE"/>
            </a:solidFill>
            <a:prstDash val="solid"/>
          </a:ln>
        </p:spPr>
      </p:sp>
      <p:sp>
        <p:nvSpPr>
          <p:cNvPr id="15" name="Result value 4"/>
          <p:cNvSpPr txBox="1"/>
          <p:nvPr/>
        </p:nvSpPr>
        <p:spPr>
          <a:xfrm>
            <a:off x="8001000" y="5166360"/>
            <a:ext cx="3474720" cy="502920"/>
          </a:xfrm>
          <a:prstGeom prst="rect">
            <a:avLst/>
          </a:prstGeom>
          <a:noFill/>
          <a:ln/>
        </p:spPr>
        <p:txBody>
          <a:bodyPr wrap="square" lIns="0" tIns="0" rIns="0" bIns="0" rtlCol="0" anchor="ctr"/>
          <a:lstStyle/>
          <a:p>
            <a:pPr indent="0" marL="0">
              <a:buNone/>
            </a:pPr>
            <a:r>
              <a:rPr lang="en-US" sz="2800" b="1" dirty="0">
                <a:solidFill>
                  <a:srgbClr val="F5A524"/>
                </a:solidFill>
              </a:rPr>
              <a:t>1% noise</a:t>
            </a:r>
            <a:endParaRPr lang="en-US" sz="2800" dirty="0"/>
          </a:p>
        </p:txBody>
      </p:sp>
      <p:sp>
        <p:nvSpPr>
          <p:cNvPr id="16" name="Result label 4"/>
          <p:cNvSpPr txBox="1"/>
          <p:nvPr/>
        </p:nvSpPr>
        <p:spPr>
          <a:xfrm>
            <a:off x="8001000" y="5660136"/>
            <a:ext cx="3474720" cy="384048"/>
          </a:xfrm>
          <a:prstGeom prst="rect">
            <a:avLst/>
          </a:prstGeom>
          <a:noFill/>
          <a:ln/>
        </p:spPr>
        <p:txBody>
          <a:bodyPr wrap="square" lIns="0" tIns="0" rIns="0" bIns="0" rtlCol="0" anchor="t"/>
          <a:lstStyle/>
          <a:p>
            <a:pPr indent="0" marL="0">
              <a:buNone/>
            </a:pPr>
            <a:r>
              <a:rPr lang="en-US" sz="1200" dirty="0">
                <a:solidFill>
                  <a:srgbClr val="4B5165"/>
                </a:solidFill>
              </a:rPr>
              <a:t>QAOA still finds the optimum on Qiskit Aer</a:t>
            </a:r>
            <a:endParaRPr lang="en-US" sz="12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3" type="body" hasCustomPrompt="1"/>
          </p:nvPr>
        </p:nvSpPr>
        <p:spPr>
          <a:xfrm>
            <a:off x="1143000" y="292608"/>
            <a:ext cx="8229600" cy="301752"/>
          </a:xfrm>
          <a:prstGeom prst="rect">
            <a:avLst/>
          </a:prstGeom>
          <a:noFill/>
          <a:ln/>
        </p:spPr>
        <p:txBody>
          <a:bodyPr wrap="square" lIns="0" tIns="0" rIns="0" bIns="0" rtlCol="0" anchor="ctr"/>
          <a:lstStyle/>
          <a:p>
            <a:pPr algn="l" indent="0" marL="0">
              <a:buNone/>
            </a:pPr>
            <a:r>
              <a:rPr lang="en-US" sz="1200" b="1" dirty="0">
                <a:solidFill>
                  <a:srgbClr val="C4B5FD"/>
                </a:solidFill>
              </a:rPr>
              <a:t>Next steps</a:t>
            </a:r>
            <a:endParaRPr lang="en-US" sz="1200" dirty="0"/>
          </a:p>
        </p:txBody>
      </p:sp>
      <p:sp>
        <p:nvSpPr>
          <p:cNvPr id="3" name="Text 0"/>
          <p:cNvSpPr/>
          <p:nvPr>
            <p:ph idx="104"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600" b="1" dirty="0">
                <a:solidFill>
                  <a:srgbClr val="FFFFFF"/>
                </a:solidFill>
                <a:latin typeface="Calibri" pitchFamily="34" charset="0"/>
                <a:ea typeface="Calibri" pitchFamily="34" charset="-122"/>
                <a:cs typeface="Calibri" pitchFamily="34" charset="-120"/>
              </a:rPr>
              <a:t>From simulation to real streets</a:t>
            </a:r>
            <a:endParaRPr lang="en-US" sz="3600" dirty="0"/>
          </a:p>
        </p:txBody>
      </p:sp>
      <p:sp>
        <p:nvSpPr>
          <p:cNvPr id="4" name="Next card 1"/>
          <p:cNvSpPr/>
          <p:nvPr/>
        </p:nvSpPr>
        <p:spPr>
          <a:xfrm>
            <a:off x="548640" y="1783080"/>
            <a:ext cx="3520440" cy="2240280"/>
          </a:xfrm>
          <a:prstGeom prst="roundRect">
            <a:avLst>
              <a:gd name="adj" fmla="val 4898"/>
            </a:avLst>
          </a:prstGeom>
          <a:solidFill>
            <a:srgbClr val="1B2146"/>
          </a:solidFill>
          <a:ln w="9525">
            <a:solidFill>
              <a:srgbClr val="2E3566"/>
            </a:solidFill>
            <a:prstDash val="solid"/>
          </a:ln>
        </p:spPr>
      </p:sp>
      <p:sp>
        <p:nvSpPr>
          <p:cNvPr id="5" name="Next 1 circle"/>
          <p:cNvSpPr/>
          <p:nvPr/>
        </p:nvSpPr>
        <p:spPr>
          <a:xfrm>
            <a:off x="822960" y="2011680"/>
            <a:ext cx="603504" cy="603504"/>
          </a:xfrm>
          <a:prstGeom prst="ellipse">
            <a:avLst/>
          </a:prstGeom>
          <a:solidFill>
            <a:srgbClr val="7C3AED"/>
          </a:solidFill>
          <a:ln/>
        </p:spPr>
      </p:sp>
      <p:pic>
        <p:nvPicPr>
          <p:cNvPr id="6" name="Next 1 icon" descr="preencoded.png">    </p:cNvPr>
          <p:cNvPicPr>
            <a:picLocks noChangeAspect="1"/>
          </p:cNvPicPr>
          <p:nvPr/>
        </p:nvPicPr>
        <p:blipFill>
          <a:blip r:embed="rId1"/>
          <a:stretch>
            <a:fillRect/>
          </a:stretch>
        </p:blipFill>
        <p:spPr>
          <a:xfrm>
            <a:off x="973836" y="2162556"/>
            <a:ext cx="301752" cy="301752"/>
          </a:xfrm>
          <a:prstGeom prst="rect">
            <a:avLst/>
          </a:prstGeom>
        </p:spPr>
      </p:pic>
      <p:sp>
        <p:nvSpPr>
          <p:cNvPr id="7" name="Next title 1"/>
          <p:cNvSpPr txBox="1"/>
          <p:nvPr/>
        </p:nvSpPr>
        <p:spPr>
          <a:xfrm>
            <a:off x="822960" y="2743200"/>
            <a:ext cx="2971800" cy="411480"/>
          </a:xfrm>
          <a:prstGeom prst="rect">
            <a:avLst/>
          </a:prstGeom>
          <a:noFill/>
          <a:ln/>
        </p:spPr>
        <p:txBody>
          <a:bodyPr wrap="square" lIns="0" tIns="0" rIns="0" bIns="0" rtlCol="0" anchor="ctr"/>
          <a:lstStyle/>
          <a:p>
            <a:pPr indent="0" marL="0">
              <a:buNone/>
            </a:pPr>
            <a:r>
              <a:rPr lang="en-US" sz="1900" b="1" dirty="0">
                <a:solidFill>
                  <a:srgbClr val="FFFFFF"/>
                </a:solidFill>
              </a:rPr>
              <a:t>Run on IBM Quantum</a:t>
            </a:r>
            <a:endParaRPr lang="en-US" sz="1900" dirty="0"/>
          </a:p>
        </p:txBody>
      </p:sp>
      <p:sp>
        <p:nvSpPr>
          <p:cNvPr id="8" name="Next text 1"/>
          <p:cNvSpPr txBox="1"/>
          <p:nvPr/>
        </p:nvSpPr>
        <p:spPr>
          <a:xfrm>
            <a:off x="822960" y="3182112"/>
            <a:ext cx="2971800" cy="777240"/>
          </a:xfrm>
          <a:prstGeom prst="rect">
            <a:avLst/>
          </a:prstGeom>
          <a:noFill/>
          <a:ln/>
        </p:spPr>
        <p:txBody>
          <a:bodyPr wrap="square" lIns="0" tIns="0" rIns="0" bIns="0" rtlCol="0" anchor="t"/>
          <a:lstStyle/>
          <a:p>
            <a:pPr indent="0" marL="0">
              <a:buNone/>
            </a:pPr>
            <a:r>
              <a:rPr lang="en-US" sz="1400" dirty="0">
                <a:solidFill>
                  <a:srgbClr val="C9CEDB"/>
                </a:solidFill>
              </a:rPr>
              <a:t>Same circuit through Qiskit Runtime on real hardware, with error mitigation</a:t>
            </a:r>
            <a:endParaRPr lang="en-US" sz="1400" dirty="0"/>
          </a:p>
        </p:txBody>
      </p:sp>
      <p:sp>
        <p:nvSpPr>
          <p:cNvPr id="9" name="Next card 2"/>
          <p:cNvSpPr/>
          <p:nvPr/>
        </p:nvSpPr>
        <p:spPr>
          <a:xfrm>
            <a:off x="4334256" y="1783080"/>
            <a:ext cx="3520440" cy="2240280"/>
          </a:xfrm>
          <a:prstGeom prst="roundRect">
            <a:avLst>
              <a:gd name="adj" fmla="val 4898"/>
            </a:avLst>
          </a:prstGeom>
          <a:solidFill>
            <a:srgbClr val="1B2146"/>
          </a:solidFill>
          <a:ln w="9525">
            <a:solidFill>
              <a:srgbClr val="2E3566"/>
            </a:solidFill>
            <a:prstDash val="solid"/>
          </a:ln>
        </p:spPr>
      </p:sp>
      <p:sp>
        <p:nvSpPr>
          <p:cNvPr id="10" name="Next 2 circle"/>
          <p:cNvSpPr/>
          <p:nvPr/>
        </p:nvSpPr>
        <p:spPr>
          <a:xfrm>
            <a:off x="4608576" y="2011680"/>
            <a:ext cx="603504" cy="603504"/>
          </a:xfrm>
          <a:prstGeom prst="ellipse">
            <a:avLst/>
          </a:prstGeom>
          <a:solidFill>
            <a:srgbClr val="F5A524"/>
          </a:solidFill>
          <a:ln/>
        </p:spPr>
      </p:sp>
      <p:pic>
        <p:nvPicPr>
          <p:cNvPr id="11" name="Next 2 icon" descr="preencoded.png">    </p:cNvPr>
          <p:cNvPicPr>
            <a:picLocks noChangeAspect="1"/>
          </p:cNvPicPr>
          <p:nvPr/>
        </p:nvPicPr>
        <p:blipFill>
          <a:blip r:embed="rId2"/>
          <a:stretch>
            <a:fillRect/>
          </a:stretch>
        </p:blipFill>
        <p:spPr>
          <a:xfrm>
            <a:off x="4759452" y="2162556"/>
            <a:ext cx="301752" cy="301752"/>
          </a:xfrm>
          <a:prstGeom prst="rect">
            <a:avLst/>
          </a:prstGeom>
        </p:spPr>
      </p:pic>
      <p:sp>
        <p:nvSpPr>
          <p:cNvPr id="12" name="Next title 2"/>
          <p:cNvSpPr txBox="1"/>
          <p:nvPr/>
        </p:nvSpPr>
        <p:spPr>
          <a:xfrm>
            <a:off x="4608576" y="2743200"/>
            <a:ext cx="2971800" cy="411480"/>
          </a:xfrm>
          <a:prstGeom prst="rect">
            <a:avLst/>
          </a:prstGeom>
          <a:noFill/>
          <a:ln/>
        </p:spPr>
        <p:txBody>
          <a:bodyPr wrap="square" lIns="0" tIns="0" rIns="0" bIns="0" rtlCol="0" anchor="ctr"/>
          <a:lstStyle/>
          <a:p>
            <a:pPr indent="0" marL="0">
              <a:buNone/>
            </a:pPr>
            <a:r>
              <a:rPr lang="en-US" sz="1900" b="1" dirty="0">
                <a:solidFill>
                  <a:srgbClr val="FFFFFF"/>
                </a:solidFill>
              </a:rPr>
              <a:t>Split the city</a:t>
            </a:r>
            <a:endParaRPr lang="en-US" sz="1900" dirty="0"/>
          </a:p>
        </p:txBody>
      </p:sp>
      <p:sp>
        <p:nvSpPr>
          <p:cNvPr id="13" name="Next text 2"/>
          <p:cNvSpPr txBox="1"/>
          <p:nvPr/>
        </p:nvSpPr>
        <p:spPr>
          <a:xfrm>
            <a:off x="4608576" y="3182112"/>
            <a:ext cx="2971800" cy="777240"/>
          </a:xfrm>
          <a:prstGeom prst="rect">
            <a:avLst/>
          </a:prstGeom>
          <a:noFill/>
          <a:ln/>
        </p:spPr>
        <p:txBody>
          <a:bodyPr wrap="square" lIns="0" tIns="0" rIns="0" bIns="0" rtlCol="0" anchor="t"/>
          <a:lstStyle/>
          <a:p>
            <a:pPr indent="0" marL="0">
              <a:buNone/>
            </a:pPr>
            <a:r>
              <a:rPr lang="en-US" sz="1400" dirty="0">
                <a:solidFill>
                  <a:srgbClr val="C9CEDB"/>
                </a:solidFill>
              </a:rPr>
              <a:t>Decompose large grids into corridors that each fit on one quantum device</a:t>
            </a:r>
            <a:endParaRPr lang="en-US" sz="1400" dirty="0"/>
          </a:p>
        </p:txBody>
      </p:sp>
      <p:sp>
        <p:nvSpPr>
          <p:cNvPr id="14" name="Next card 3"/>
          <p:cNvSpPr/>
          <p:nvPr/>
        </p:nvSpPr>
        <p:spPr>
          <a:xfrm>
            <a:off x="8119872" y="1783080"/>
            <a:ext cx="3520440" cy="2240280"/>
          </a:xfrm>
          <a:prstGeom prst="roundRect">
            <a:avLst>
              <a:gd name="adj" fmla="val 4898"/>
            </a:avLst>
          </a:prstGeom>
          <a:solidFill>
            <a:srgbClr val="1B2146"/>
          </a:solidFill>
          <a:ln w="9525">
            <a:solidFill>
              <a:srgbClr val="2E3566"/>
            </a:solidFill>
            <a:prstDash val="solid"/>
          </a:ln>
        </p:spPr>
      </p:sp>
      <p:sp>
        <p:nvSpPr>
          <p:cNvPr id="15" name="Next 3 circle"/>
          <p:cNvSpPr/>
          <p:nvPr/>
        </p:nvSpPr>
        <p:spPr>
          <a:xfrm>
            <a:off x="8394192" y="2011680"/>
            <a:ext cx="603504" cy="603504"/>
          </a:xfrm>
          <a:prstGeom prst="ellipse">
            <a:avLst/>
          </a:prstGeom>
          <a:solidFill>
            <a:srgbClr val="2BB673"/>
          </a:solidFill>
          <a:ln/>
        </p:spPr>
      </p:sp>
      <p:pic>
        <p:nvPicPr>
          <p:cNvPr id="16" name="Next 3 icon" descr="preencoded.png">    </p:cNvPr>
          <p:cNvPicPr>
            <a:picLocks noChangeAspect="1"/>
          </p:cNvPicPr>
          <p:nvPr/>
        </p:nvPicPr>
        <p:blipFill>
          <a:blip r:embed="rId3"/>
          <a:stretch>
            <a:fillRect/>
          </a:stretch>
        </p:blipFill>
        <p:spPr>
          <a:xfrm>
            <a:off x="8545068" y="2162556"/>
            <a:ext cx="301752" cy="301752"/>
          </a:xfrm>
          <a:prstGeom prst="rect">
            <a:avLst/>
          </a:prstGeom>
        </p:spPr>
      </p:pic>
      <p:sp>
        <p:nvSpPr>
          <p:cNvPr id="17" name="Next title 3"/>
          <p:cNvSpPr txBox="1"/>
          <p:nvPr/>
        </p:nvSpPr>
        <p:spPr>
          <a:xfrm>
            <a:off x="8394192" y="2743200"/>
            <a:ext cx="2971800" cy="411480"/>
          </a:xfrm>
          <a:prstGeom prst="rect">
            <a:avLst/>
          </a:prstGeom>
          <a:noFill/>
          <a:ln/>
        </p:spPr>
        <p:txBody>
          <a:bodyPr wrap="square" lIns="0" tIns="0" rIns="0" bIns="0" rtlCol="0" anchor="ctr"/>
          <a:lstStyle/>
          <a:p>
            <a:pPr indent="0" marL="0">
              <a:buNone/>
            </a:pPr>
            <a:r>
              <a:rPr lang="en-US" sz="1900" b="1" dirty="0">
                <a:solidFill>
                  <a:srgbClr val="FFFFFF"/>
                </a:solidFill>
              </a:rPr>
              <a:t>Real traffic data</a:t>
            </a:r>
            <a:endParaRPr lang="en-US" sz="1900" dirty="0"/>
          </a:p>
        </p:txBody>
      </p:sp>
      <p:sp>
        <p:nvSpPr>
          <p:cNvPr id="18" name="Next text 3"/>
          <p:cNvSpPr txBox="1"/>
          <p:nvPr/>
        </p:nvSpPr>
        <p:spPr>
          <a:xfrm>
            <a:off x="8394192" y="3182112"/>
            <a:ext cx="2971800" cy="777240"/>
          </a:xfrm>
          <a:prstGeom prst="rect">
            <a:avLst/>
          </a:prstGeom>
          <a:noFill/>
          <a:ln/>
        </p:spPr>
        <p:txBody>
          <a:bodyPr wrap="square" lIns="0" tIns="0" rIns="0" bIns="0" rtlCol="0" anchor="t"/>
          <a:lstStyle/>
          <a:p>
            <a:pPr indent="0" marL="0">
              <a:buNone/>
            </a:pPr>
            <a:r>
              <a:rPr lang="en-US" sz="1400" dirty="0">
                <a:solidFill>
                  <a:srgbClr val="C9CEDB"/>
                </a:solidFill>
              </a:rPr>
              <a:t>Connect to SUMO and live detector feeds instead of simulated arrivals</a:t>
            </a:r>
            <a:endParaRPr lang="en-US" sz="1400" dirty="0"/>
          </a:p>
        </p:txBody>
      </p:sp>
      <p:sp>
        <p:nvSpPr>
          <p:cNvPr id="19" name="Links heading"/>
          <p:cNvSpPr txBox="1"/>
          <p:nvPr/>
        </p:nvSpPr>
        <p:spPr>
          <a:xfrm>
            <a:off x="548640" y="4297680"/>
            <a:ext cx="5486400" cy="365760"/>
          </a:xfrm>
          <a:prstGeom prst="rect">
            <a:avLst/>
          </a:prstGeom>
          <a:noFill/>
          <a:ln/>
        </p:spPr>
        <p:txBody>
          <a:bodyPr wrap="square" lIns="0" tIns="0" rIns="0" bIns="0" rtlCol="0" anchor="ctr"/>
          <a:lstStyle/>
          <a:p>
            <a:pPr indent="0" marL="0">
              <a:buNone/>
            </a:pPr>
            <a:r>
              <a:rPr lang="en-US" sz="1800" b="1" dirty="0">
                <a:solidFill>
                  <a:srgbClr val="FFFFFF"/>
                </a:solidFill>
              </a:rPr>
              <a:t>Try it yourself</a:t>
            </a:r>
            <a:endParaRPr lang="en-US" sz="1800" dirty="0"/>
          </a:p>
        </p:txBody>
      </p:sp>
      <p:sp>
        <p:nvSpPr>
          <p:cNvPr id="20" name="Demo video link card"/>
          <p:cNvSpPr/>
          <p:nvPr/>
        </p:nvSpPr>
        <p:spPr>
          <a:xfrm>
            <a:off x="548640" y="4709160"/>
            <a:ext cx="3520440" cy="566928"/>
          </a:xfrm>
          <a:prstGeom prst="roundRect">
            <a:avLst>
              <a:gd name="adj" fmla="val 19355"/>
            </a:avLst>
          </a:prstGeom>
          <a:solidFill>
            <a:srgbClr val="1B2146"/>
          </a:solidFill>
          <a:ln w="9525">
            <a:solidFill>
              <a:srgbClr val="2E3566"/>
            </a:solidFill>
            <a:prstDash val="solid"/>
          </a:ln>
        </p:spPr>
      </p:sp>
      <p:sp>
        <p:nvSpPr>
          <p:cNvPr id="21" name="Demo video dot"/>
          <p:cNvSpPr/>
          <p:nvPr/>
        </p:nvSpPr>
        <p:spPr>
          <a:xfrm>
            <a:off x="731520" y="4919472"/>
            <a:ext cx="146304" cy="146304"/>
          </a:xfrm>
          <a:prstGeom prst="ellipse">
            <a:avLst/>
          </a:prstGeom>
          <a:solidFill>
            <a:srgbClr val="E5484D"/>
          </a:solidFill>
          <a:ln/>
        </p:spPr>
      </p:sp>
      <p:sp>
        <p:nvSpPr>
          <p:cNvPr id="22" name="Demo video link"/>
          <p:cNvSpPr txBox="1"/>
          <p:nvPr/>
        </p:nvSpPr>
        <p:spPr>
          <a:xfrm>
            <a:off x="960120" y="4709160"/>
            <a:ext cx="3017520" cy="566928"/>
          </a:xfrm>
          <a:prstGeom prst="rect">
            <a:avLst/>
          </a:prstGeom>
          <a:noFill/>
          <a:ln/>
        </p:spPr>
        <p:txBody>
          <a:bodyPr wrap="square" lIns="0" tIns="0" rIns="0" bIns="0" rtlCol="0" anchor="ctr"/>
          <a:lstStyle/>
          <a:p>
            <a:pPr indent="0" marL="0">
              <a:buNone/>
            </a:pPr>
            <a:r>
              <a:rPr lang="en-US" sz="1300" b="1" dirty="0">
                <a:solidFill>
                  <a:srgbClr val="FFFFFF"/>
                </a:solidFill>
              </a:rPr>
              <a:t>Demo video  </a:t>
            </a:r>
            <a:pPr indent="0" marL="0">
              <a:buNone/>
            </a:pPr>
            <a:r>
              <a:rPr lang="en-US" sz="1300" u="sng" dirty="0">
                <a:solidFill>
                  <a:srgbClr val="C4B5FD"/>
                </a:solidFill>
                <a:hlinkClick r:id="rId4" invalidUrl="" action="" tgtFrame="" tooltip="Demo video" history="1" highlightClick="0" endSnd="0">
                  <a:extLst>
                    <a:ext uri="{A12FA001-AC4F-418D-AE19-62706E023703}">
                      <ahyp:hlinkClr xmlns:ahyp="http://schemas.microsoft.com/office/drawing/2018/hyperlinkcolor" val="tx"/>
                    </a:ext>
                  </a:extLst>
                </a:hlinkClick>
              </a:rPr>
              <a:t>vhack.harshithk.tech</a:t>
            </a:r>
            <a:endParaRPr lang="en-US" sz="1300" dirty="0"/>
          </a:p>
        </p:txBody>
      </p:sp>
      <p:sp>
        <p:nvSpPr>
          <p:cNvPr id="23" name="Live dashboard link card"/>
          <p:cNvSpPr/>
          <p:nvPr/>
        </p:nvSpPr>
        <p:spPr>
          <a:xfrm>
            <a:off x="4334256" y="4709160"/>
            <a:ext cx="3520440" cy="566928"/>
          </a:xfrm>
          <a:prstGeom prst="roundRect">
            <a:avLst>
              <a:gd name="adj" fmla="val 19355"/>
            </a:avLst>
          </a:prstGeom>
          <a:solidFill>
            <a:srgbClr val="1B2146"/>
          </a:solidFill>
          <a:ln w="9525">
            <a:solidFill>
              <a:srgbClr val="2E3566"/>
            </a:solidFill>
            <a:prstDash val="solid"/>
          </a:ln>
        </p:spPr>
      </p:sp>
      <p:sp>
        <p:nvSpPr>
          <p:cNvPr id="24" name="Live dashboard dot"/>
          <p:cNvSpPr/>
          <p:nvPr/>
        </p:nvSpPr>
        <p:spPr>
          <a:xfrm>
            <a:off x="4517136" y="4919472"/>
            <a:ext cx="146304" cy="146304"/>
          </a:xfrm>
          <a:prstGeom prst="ellipse">
            <a:avLst/>
          </a:prstGeom>
          <a:solidFill>
            <a:srgbClr val="2BB673"/>
          </a:solidFill>
          <a:ln/>
        </p:spPr>
      </p:sp>
      <p:sp>
        <p:nvSpPr>
          <p:cNvPr id="25" name="Live dashboard link"/>
          <p:cNvSpPr txBox="1"/>
          <p:nvPr/>
        </p:nvSpPr>
        <p:spPr>
          <a:xfrm>
            <a:off x="4745736" y="4709160"/>
            <a:ext cx="3017520" cy="566928"/>
          </a:xfrm>
          <a:prstGeom prst="rect">
            <a:avLst/>
          </a:prstGeom>
          <a:noFill/>
          <a:ln/>
        </p:spPr>
        <p:txBody>
          <a:bodyPr wrap="square" lIns="0" tIns="0" rIns="0" bIns="0" rtlCol="0" anchor="ctr"/>
          <a:lstStyle/>
          <a:p>
            <a:pPr indent="0" marL="0">
              <a:buNone/>
            </a:pPr>
            <a:r>
              <a:rPr lang="en-US" sz="1300" b="1" dirty="0">
                <a:solidFill>
                  <a:srgbClr val="FFFFFF"/>
                </a:solidFill>
              </a:rPr>
              <a:t>Live dashboard  </a:t>
            </a:r>
            <a:pPr indent="0" marL="0">
              <a:buNone/>
            </a:pPr>
            <a:r>
              <a:rPr lang="en-US" sz="1300" u="sng" dirty="0">
                <a:solidFill>
                  <a:srgbClr val="C4B5FD"/>
                </a:solidFill>
                <a:hlinkClick r:id="rId5" invalidUrl="" action="" tgtFrame="" tooltip="Live dashboard" history="1" highlightClick="0" endSnd="0">
                  <a:extLst>
                    <a:ext uri="{A12FA001-AC4F-418D-AE19-62706E023703}">
                      <ahyp:hlinkClr xmlns:ahyp="http://schemas.microsoft.com/office/drawing/2018/hyperlinkcolor" val="tx"/>
                    </a:ext>
                  </a:extLst>
                </a:hlinkClick>
              </a:rPr>
              <a:t>qtraffic.harshithk.tech</a:t>
            </a:r>
            <a:endParaRPr lang="en-US" sz="1300" dirty="0"/>
          </a:p>
        </p:txBody>
      </p:sp>
      <p:sp>
        <p:nvSpPr>
          <p:cNvPr id="26" name="Code (MIT) link card"/>
          <p:cNvSpPr/>
          <p:nvPr/>
        </p:nvSpPr>
        <p:spPr>
          <a:xfrm>
            <a:off x="8119872" y="4709160"/>
            <a:ext cx="3520440" cy="566928"/>
          </a:xfrm>
          <a:prstGeom prst="roundRect">
            <a:avLst>
              <a:gd name="adj" fmla="val 19355"/>
            </a:avLst>
          </a:prstGeom>
          <a:solidFill>
            <a:srgbClr val="1B2146"/>
          </a:solidFill>
          <a:ln w="9525">
            <a:solidFill>
              <a:srgbClr val="2E3566"/>
            </a:solidFill>
            <a:prstDash val="solid"/>
          </a:ln>
        </p:spPr>
      </p:sp>
      <p:sp>
        <p:nvSpPr>
          <p:cNvPr id="27" name="Code (MIT) dot"/>
          <p:cNvSpPr/>
          <p:nvPr/>
        </p:nvSpPr>
        <p:spPr>
          <a:xfrm>
            <a:off x="8302752" y="4919472"/>
            <a:ext cx="146304" cy="146304"/>
          </a:xfrm>
          <a:prstGeom prst="ellipse">
            <a:avLst/>
          </a:prstGeom>
          <a:solidFill>
            <a:srgbClr val="7C3AED"/>
          </a:solidFill>
          <a:ln/>
        </p:spPr>
      </p:sp>
      <p:sp>
        <p:nvSpPr>
          <p:cNvPr id="28" name="Code (MIT) link"/>
          <p:cNvSpPr txBox="1"/>
          <p:nvPr/>
        </p:nvSpPr>
        <p:spPr>
          <a:xfrm>
            <a:off x="8531352" y="4709160"/>
            <a:ext cx="3017520" cy="566928"/>
          </a:xfrm>
          <a:prstGeom prst="rect">
            <a:avLst/>
          </a:prstGeom>
          <a:noFill/>
          <a:ln/>
        </p:spPr>
        <p:txBody>
          <a:bodyPr wrap="square" lIns="0" tIns="0" rIns="0" bIns="0" rtlCol="0" anchor="ctr"/>
          <a:lstStyle/>
          <a:p>
            <a:pPr indent="0" marL="0">
              <a:buNone/>
            </a:pPr>
            <a:r>
              <a:rPr lang="en-US" sz="1300" b="1" dirty="0">
                <a:solidFill>
                  <a:srgbClr val="FFFFFF"/>
                </a:solidFill>
              </a:rPr>
              <a:t>Code (MIT)  </a:t>
            </a:r>
            <a:pPr indent="0" marL="0">
              <a:buNone/>
            </a:pPr>
            <a:r>
              <a:rPr lang="en-US" sz="1300" u="sng" dirty="0">
                <a:solidFill>
                  <a:srgbClr val="C4B5FD"/>
                </a:solidFill>
                <a:hlinkClick r:id="rId6" invalidUrl="" action="" tgtFrame="" tooltip="Code (MIT)" history="1" highlightClick="0" endSnd="0">
                  <a:extLst>
                    <a:ext uri="{A12FA001-AC4F-418D-AE19-62706E023703}">
                      <ahyp:hlinkClr xmlns:ahyp="http://schemas.microsoft.com/office/drawing/2018/hyperlinkcolor" val="tx"/>
                    </a:ext>
                  </a:extLst>
                </a:hlinkClick>
              </a:rPr>
              <a:t>github.com/Harshithk00/Vhack</a:t>
            </a:r>
            <a:endParaRPr lang="en-US" sz="1300" dirty="0"/>
          </a:p>
        </p:txBody>
      </p:sp>
      <p:sp>
        <p:nvSpPr>
          <p:cNvPr id="29" name="Team line"/>
          <p:cNvSpPr txBox="1"/>
          <p:nvPr/>
        </p:nvSpPr>
        <p:spPr>
          <a:xfrm>
            <a:off x="548640" y="5577840"/>
            <a:ext cx="11094415" cy="411480"/>
          </a:xfrm>
          <a:prstGeom prst="rect">
            <a:avLst/>
          </a:prstGeom>
          <a:noFill/>
          <a:ln/>
        </p:spPr>
        <p:txBody>
          <a:bodyPr wrap="square" lIns="0" tIns="0" rIns="0" bIns="0" rtlCol="0" anchor="ctr"/>
          <a:lstStyle/>
          <a:p>
            <a:pPr indent="0" marL="0">
              <a:buNone/>
            </a:pPr>
            <a:r>
              <a:rPr lang="en-US" sz="1600" b="1" dirty="0">
                <a:solidFill>
                  <a:srgbClr val="F5A524"/>
                </a:solidFill>
              </a:rPr>
              <a:t>Team NULL POINTER   </a:t>
            </a:r>
            <a:pPr indent="0" marL="0">
              <a:buNone/>
            </a:pPr>
            <a:r>
              <a:rPr lang="en-US" sz="1600" b="1" dirty="0">
                <a:solidFill>
                  <a:srgbClr val="FFFFFF"/>
                </a:solidFill>
              </a:rPr>
              <a:t>Harshit Kumar (Team Lead)</a:t>
            </a:r>
            <a:pPr indent="0" marL="0">
              <a:buNone/>
            </a:pPr>
            <a:r>
              <a:rPr lang="en-US" sz="1600" dirty="0">
                <a:solidFill>
                  <a:srgbClr val="C9CEDB"/>
                </a:solidFill>
              </a:rPr>
              <a:t>  ·  Himansu Rauniyar  ·  Aditya Pattar</a:t>
            </a:r>
            <a:endParaRPr lang="en-US" sz="16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4B2"/>
                </a:solidFill>
              </a:defRPr>
            </a:lvl1pPr>
          </a:lstStyle>
          <a:p>
            <a:pPr algn="r"/>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Null Pointer Quantum Traffic">
  <a:themeElements>
    <a:clrScheme name="Null Pointer Quantum Traffic">
      <a:dk1>
        <a:srgbClr val="0E1330"/>
      </a:dk1>
      <a:lt1>
        <a:srgbClr val="FFFFFF"/>
      </a:lt1>
      <a:dk2>
        <a:srgbClr val="3A3F5C"/>
      </a:dk2>
      <a:lt2>
        <a:srgbClr val="F3F4F8"/>
      </a:lt2>
      <a:accent1>
        <a:srgbClr val="7C3AED"/>
      </a:accent1>
      <a:accent2>
        <a:srgbClr val="2BB673"/>
      </a:accent2>
      <a:accent3>
        <a:srgbClr val="F5A524"/>
      </a:accent3>
      <a:accent4>
        <a:srgbClr val="E5484D"/>
      </a:accent4>
      <a:accent5>
        <a:srgbClr val="3B82F6"/>
      </a:accent5>
      <a:accent6>
        <a:srgbClr val="9AA4B2"/>
      </a:accent6>
      <a:hlink>
        <a:srgbClr val="7C3AED"/>
      </a:hlink>
      <a:folHlink>
        <a:srgbClr val="5B21B6"/>
      </a:folHlink>
    </a:clrScheme>
    <a:fontScheme name="Null Pointer Quantum Traffic">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SIT Tumkur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Quantum-Assisted Traffic Signal Optimization using QAOA</dc:title>
  <dc:subject>PptxGenJS Presentation</dc:subject>
  <dc:creator>Team NULL POINTER</dc:creator>
  <cp:lastModifiedBy>Team NULL POINTER</cp:lastModifiedBy>
  <cp:revision>1</cp:revision>
  <dcterms:created xsi:type="dcterms:W3CDTF">2026-10-22T12:14:34Z</dcterms:created>
  <dcterms:modified xsi:type="dcterms:W3CDTF">2026-10-22T12:14:34Z</dcterms:modified>
</cp:coreProperties>
</file>